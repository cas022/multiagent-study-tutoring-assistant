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1920240"/>
            <a:ext cx="7863840" cy="1463040"/>
          </a:xfrm>
          <a:prstGeom prst="rect">
            <a:avLst/>
          </a:prstGeom>
          <a:noFill/>
        </p:spPr>
        <p:txBody>
          <a:bodyPr wrap="square" lIns="0" rIns="0" tIns="0" bIns="0">
            <a:spAutoFit/>
          </a:bodyPr>
          <a:lstStyle/>
          <a:p>
            <a:pPr>
              <a:spcAft>
                <a:spcPts val="600"/>
              </a:spcAft>
            </a:pPr>
            <a:r>
              <a:rPr sz="4000" b="1" i="0">
                <a:solidFill>
                  <a:srgbClr val="FFFFFF"/>
                </a:solidFill>
                <a:latin typeface="Montserrat"/>
              </a:rPr>
              <a:t>P VERSUS NP</a:t>
            </a:r>
          </a:p>
        </p:txBody>
      </p:sp>
      <p:sp>
        <p:nvSpPr>
          <p:cNvPr id="4" name="TextBox 3"/>
          <p:cNvSpPr txBox="1"/>
          <p:nvPr/>
        </p:nvSpPr>
        <p:spPr>
          <a:xfrm>
            <a:off x="530352" y="3429000"/>
            <a:ext cx="7863840" cy="365760"/>
          </a:xfrm>
          <a:prstGeom prst="rect">
            <a:avLst/>
          </a:prstGeom>
          <a:noFill/>
        </p:spPr>
        <p:txBody>
          <a:bodyPr wrap="square" lIns="0" rIns="0" tIns="0" bIns="0">
            <a:spAutoFit/>
          </a:bodyPr>
          <a:lstStyle/>
          <a:p>
            <a:pPr>
              <a:spcAft>
                <a:spcPts val="0"/>
              </a:spcAft>
            </a:pPr>
            <a:r>
              <a:rPr sz="1500" b="1" i="0">
                <a:solidFill>
                  <a:srgbClr val="D98F98"/>
                </a:solidFill>
                <a:latin typeface="Montserrat"/>
              </a:rPr>
              <a:t>QUIZ REVIEW GUIDE</a:t>
            </a:r>
          </a:p>
        </p:txBody>
      </p:sp>
      <p:sp>
        <p:nvSpPr>
          <p:cNvPr id="5" name="TextBox 4"/>
          <p:cNvSpPr txBox="1"/>
          <p:nvPr/>
        </p:nvSpPr>
        <p:spPr>
          <a:xfrm>
            <a:off x="530352" y="4069080"/>
            <a:ext cx="7863840" cy="1005840"/>
          </a:xfrm>
          <a:prstGeom prst="rect">
            <a:avLst/>
          </a:prstGeom>
          <a:noFill/>
        </p:spPr>
        <p:txBody>
          <a:bodyPr wrap="square" lIns="0" rIns="0" tIns="0" bIns="0">
            <a:spAutoFit/>
          </a:bodyPr>
          <a:lstStyle/>
          <a:p>
            <a:pPr>
              <a:spcAft>
                <a:spcPts val="300"/>
              </a:spcAft>
            </a:pPr>
            <a:r>
              <a:rPr sz="1000" b="0" i="0">
                <a:solidFill>
                  <a:srgbClr val="FFFFFF"/>
                </a:solidFill>
                <a:latin typeface="Montserrat"/>
              </a:rPr>
              <a:t>Course: Theory of Computation (hypothetical course, no syllabus on file)</a:t>
            </a:r>
          </a:p>
          <a:p>
            <a:pPr>
              <a:spcAft>
                <a:spcPts val="300"/>
              </a:spcAft>
            </a:pPr>
            <a:r>
              <a:rPr sz="1000" b="0" i="0">
                <a:solidFill>
                  <a:srgbClr val="FFFFFF"/>
                </a:solidFill>
                <a:latin typeface="Montserrat"/>
              </a:rPr>
              <a:t>Scope: the formal statement, the NP-completeness machinery, the barriers to proof, the consequences of either answer, the state of research</a:t>
            </a:r>
          </a:p>
          <a:p>
            <a:pPr>
              <a:spcAft>
                <a:spcPts val="300"/>
              </a:spcAft>
            </a:pPr>
            <a:r>
              <a:rPr sz="1000" b="0" i="0">
                <a:solidFill>
                  <a:srgbClr val="FFFFFF"/>
                </a:solidFill>
                <a:latin typeface="Montserrat"/>
              </a:rPr>
              <a:t>Prepared for: Quiz 1, entirely on this topic, 18 September 2026 (hypothetical course detail)</a:t>
            </a:r>
          </a:p>
        </p:txBody>
      </p:sp>
      <p:sp>
        <p:nvSpPr>
          <p:cNvPr id="6" name="Rectangle 5"/>
          <p:cNvSpPr/>
          <p:nvPr/>
        </p:nvSpPr>
        <p:spPr>
          <a:xfrm>
            <a:off x="530352" y="5806440"/>
            <a:ext cx="11130991" cy="9525"/>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035040"/>
            <a:ext cx="3657600" cy="228600"/>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8" name="TextBox 7"/>
          <p:cNvSpPr txBox="1"/>
          <p:nvPr/>
        </p:nvSpPr>
        <p:spPr>
          <a:xfrm>
            <a:off x="7985455" y="6035040"/>
            <a:ext cx="3657600" cy="228600"/>
          </a:xfrm>
          <a:prstGeom prst="rect">
            <a:avLst/>
          </a:prstGeom>
          <a:noFill/>
        </p:spPr>
        <p:txBody>
          <a:bodyPr wrap="square" lIns="0" rIns="0" tIns="0" bIns="0">
            <a:spAutoFit/>
          </a:bodyPr>
          <a:lstStyle/>
          <a:p>
            <a:pPr algn="r">
              <a:spcAft>
                <a:spcPts val="0"/>
              </a:spcAft>
            </a:pPr>
            <a:r>
              <a:rPr sz="900" b="0" i="0">
                <a:solidFill>
                  <a:srgbClr val="FFFFFF"/>
                </a:solidFill>
                <a:latin typeface="Montserrat"/>
              </a:rPr>
              <a:t>11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CONTENTS</a:t>
            </a:r>
          </a:p>
        </p:txBody>
      </p:sp>
      <p:sp>
        <p:nvSpPr>
          <p:cNvPr id="4" name="Rectangle 3"/>
          <p:cNvSpPr/>
          <p:nvPr/>
        </p:nvSpPr>
        <p:spPr>
          <a:xfrm>
            <a:off x="530352" y="86868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8" name="TextBox 7"/>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2</a:t>
            </a:r>
          </a:p>
        </p:txBody>
      </p:sp>
      <p:sp>
        <p:nvSpPr>
          <p:cNvPr id="9" name="TextBox 8"/>
          <p:cNvSpPr txBox="1"/>
          <p:nvPr/>
        </p:nvSpPr>
        <p:spPr>
          <a:xfrm>
            <a:off x="530352" y="1298448"/>
            <a:ext cx="11130991" cy="4206240"/>
          </a:xfrm>
          <a:prstGeom prst="rect">
            <a:avLst/>
          </a:prstGeom>
          <a:noFill/>
        </p:spPr>
        <p:txBody>
          <a:bodyPr wrap="square" lIns="0" rIns="0" tIns="0" bIns="0">
            <a:spAutoFit/>
          </a:bodyPr>
          <a:lstStyle/>
          <a:p>
            <a:pPr>
              <a:spcAft>
                <a:spcPts val="700"/>
              </a:spcAft>
            </a:pPr>
            <a:r>
              <a:rPr sz="1200" b="0" i="0">
                <a:solidFill>
                  <a:srgbClr val="5F4E53"/>
                </a:solidFill>
                <a:latin typeface="Montserrat"/>
              </a:rPr>
              <a:t>What this guide covers</a:t>
            </a:r>
          </a:p>
          <a:p>
            <a:pPr>
              <a:spcAft>
                <a:spcPts val="700"/>
              </a:spcAft>
            </a:pPr>
            <a:r>
              <a:rPr sz="1200" b="0" i="0">
                <a:solidFill>
                  <a:srgbClr val="5F4E53"/>
                </a:solidFill>
                <a:latin typeface="Montserrat"/>
              </a:rPr>
              <a:t>The question and its machinery</a:t>
            </a:r>
          </a:p>
          <a:p>
            <a:pPr>
              <a:spcAft>
                <a:spcPts val="700"/>
              </a:spcAft>
            </a:pPr>
            <a:r>
              <a:rPr sz="1200" b="0" i="0">
                <a:solidFill>
                  <a:srgbClr val="5F4E53"/>
                </a:solidFill>
                <a:latin typeface="Montserrat"/>
              </a:rPr>
              <a:t>P and NP side by side</a:t>
            </a:r>
          </a:p>
          <a:p>
            <a:pPr>
              <a:spcAft>
                <a:spcPts val="700"/>
              </a:spcAft>
            </a:pPr>
            <a:r>
              <a:rPr sz="1200" b="0" i="0">
                <a:solidFill>
                  <a:srgbClr val="5F4E53"/>
                </a:solidFill>
                <a:latin typeface="Montserrat"/>
              </a:rPr>
              <a:t>Notation conventions</a:t>
            </a:r>
          </a:p>
          <a:p>
            <a:pPr>
              <a:spcAft>
                <a:spcPts val="700"/>
              </a:spcAft>
            </a:pPr>
            <a:r>
              <a:rPr sz="1200" b="0" i="0">
                <a:solidFill>
                  <a:srgbClr val="5F4E53"/>
                </a:solidFill>
                <a:latin typeface="Montserrat"/>
              </a:rPr>
              <a:t>The NP-completeness machinery</a:t>
            </a:r>
          </a:p>
          <a:p>
            <a:pPr>
              <a:spcAft>
                <a:spcPts val="700"/>
              </a:spcAft>
            </a:pPr>
            <a:r>
              <a:rPr sz="1200" b="0" i="0">
                <a:solidFill>
                  <a:srgbClr val="5F4E53"/>
                </a:solidFill>
                <a:latin typeface="Montserrat"/>
              </a:rPr>
              <a:t>Cook-Levin, SAT and 3-SAT</a:t>
            </a:r>
          </a:p>
          <a:p>
            <a:pPr>
              <a:spcAft>
                <a:spcPts val="700"/>
              </a:spcAft>
            </a:pPr>
            <a:r>
              <a:rPr sz="1200" b="0" i="0">
                <a:solidFill>
                  <a:srgbClr val="5F4E53"/>
                </a:solidFill>
                <a:latin typeface="Montserrat"/>
              </a:rPr>
              <a:t>Why it has resisted proof</a:t>
            </a:r>
          </a:p>
          <a:p>
            <a:pPr>
              <a:spcAft>
                <a:spcPts val="700"/>
              </a:spcAft>
            </a:pPr>
            <a:r>
              <a:rPr sz="1200" b="0" i="0">
                <a:solidFill>
                  <a:srgbClr val="5F4E53"/>
                </a:solidFill>
                <a:latin typeface="Montserrat"/>
              </a:rPr>
              <a:t>The three barriers</a:t>
            </a:r>
          </a:p>
          <a:p>
            <a:pPr>
              <a:spcAft>
                <a:spcPts val="700"/>
              </a:spcAft>
            </a:pPr>
            <a:r>
              <a:rPr sz="1200" b="0" i="0">
                <a:solidFill>
                  <a:srgbClr val="5F4E53"/>
                </a:solidFill>
                <a:latin typeface="Montserrat"/>
              </a:rPr>
              <a:t>Theorem about methods versus belief about the answer</a:t>
            </a:r>
          </a:p>
          <a:p>
            <a:pPr>
              <a:spcAft>
                <a:spcPts val="700"/>
              </a:spcAft>
            </a:pPr>
            <a:r>
              <a:rPr sz="1200" b="0" i="0">
                <a:solidFill>
                  <a:srgbClr val="5F4E53"/>
                </a:solidFill>
                <a:latin typeface="Montserrat"/>
              </a:rPr>
              <a:t>Consequences and current status</a:t>
            </a:r>
          </a:p>
          <a:p>
            <a:pPr>
              <a:spcAft>
                <a:spcPts val="700"/>
              </a:spcAft>
            </a:pPr>
            <a:r>
              <a:rPr sz="1200" b="0" i="0">
                <a:solidFill>
                  <a:srgbClr val="5F4E53"/>
                </a:solidFill>
                <a:latin typeface="Montserrat"/>
              </a:rPr>
              <a:t>If P = NP, if P != NP</a:t>
            </a:r>
          </a:p>
          <a:p>
            <a:pPr>
              <a:spcAft>
                <a:spcPts val="700"/>
              </a:spcAft>
            </a:pPr>
            <a:r>
              <a:rPr sz="1200" b="0" i="0">
                <a:solidFill>
                  <a:srgbClr val="5F4E53"/>
                </a:solidFill>
                <a:latin typeface="Montserrat"/>
              </a:rPr>
              <a:t>Impagliazzo's five worlds</a:t>
            </a:r>
          </a:p>
          <a:p>
            <a:pPr>
              <a:spcAft>
                <a:spcPts val="700"/>
              </a:spcAft>
            </a:pPr>
            <a:r>
              <a:rPr sz="1200" b="0" i="0">
                <a:solidFill>
                  <a:srgbClr val="5F4E53"/>
                </a:solidFill>
                <a:latin typeface="Montserrat"/>
              </a:rPr>
              <a:t>Optiland and common misconceptions</a:t>
            </a:r>
          </a:p>
          <a:p>
            <a:pPr>
              <a:spcAft>
                <a:spcPts val="700"/>
              </a:spcAft>
            </a:pPr>
            <a:r>
              <a:rPr sz="1200" b="0" i="0">
                <a:solidFill>
                  <a:srgbClr val="5F4E53"/>
                </a:solidFill>
                <a:latin typeface="Montserrat"/>
              </a:rPr>
              <a:t>Where the research stands, dated landmarks, open questions</a:t>
            </a:r>
          </a:p>
          <a:p>
            <a:pPr>
              <a:spcAft>
                <a:spcPts val="700"/>
              </a:spcAft>
            </a:pPr>
            <a:r>
              <a:rPr sz="1200" b="0" i="0">
                <a:solidFill>
                  <a:srgbClr val="5F4E53"/>
                </a:solidFill>
                <a:latin typeface="Montserrat"/>
              </a:rPr>
              <a:t>Know cold, practice questions, readiness, sources</a:t>
            </a:r>
          </a:p>
        </p:txBody>
      </p:sp>
      <p:sp>
        <p:nvSpPr>
          <p:cNvPr id="10" name="TextBox 9"/>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Seven days to the quiz (hypothetical course detail).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WHAT THIS GUIDE COVERS</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The whole quiz is one topic, and most of the marks are in telling apart four claims that sound alike.</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3</a:t>
            </a:r>
          </a:p>
        </p:txBody>
      </p:sp>
      <p:sp>
        <p:nvSpPr>
          <p:cNvPr id="10" name="Rectangle 9"/>
          <p:cNvSpPr/>
          <p:nvPr/>
        </p:nvSpPr>
        <p:spPr>
          <a:xfrm>
            <a:off x="530352" y="1527048"/>
            <a:ext cx="5336895"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600200"/>
            <a:ext cx="5336895"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WHAT THE QUIZ COVERS</a:t>
            </a:r>
          </a:p>
        </p:txBody>
      </p:sp>
      <p:sp>
        <p:nvSpPr>
          <p:cNvPr id="12" name="TextBox 11"/>
          <p:cNvSpPr txBox="1"/>
          <p:nvPr/>
        </p:nvSpPr>
        <p:spPr>
          <a:xfrm>
            <a:off x="530352" y="1874520"/>
            <a:ext cx="5336895" cy="1709928"/>
          </a:xfrm>
          <a:prstGeom prst="rect">
            <a:avLst/>
          </a:prstGeom>
          <a:noFill/>
        </p:spPr>
        <p:txBody>
          <a:bodyPr wrap="square" lIns="0" rIns="0" tIns="0" bIns="0">
            <a:spAutoFit/>
          </a:bodyPr>
          <a:lstStyle/>
          <a:p>
            <a:pPr>
              <a:spcAft>
                <a:spcPts val="400"/>
              </a:spcAft>
            </a:pPr>
            <a:r>
              <a:rPr sz="950" b="0" i="0">
                <a:solidFill>
                  <a:srgbClr val="5F4E53"/>
                </a:solidFill>
                <a:latin typeface="Montserrat"/>
              </a:rPr>
              <a:t>▪  What P versus NP formally states</a:t>
            </a:r>
          </a:p>
          <a:p>
            <a:pPr>
              <a:spcAft>
                <a:spcPts val="400"/>
              </a:spcAft>
            </a:pPr>
            <a:r>
              <a:rPr sz="950" b="0" i="0">
                <a:solidFill>
                  <a:srgbClr val="5F4E53"/>
                </a:solidFill>
                <a:latin typeface="Montserrat"/>
              </a:rPr>
              <a:t>▪  The NP-completeness machinery underneath it</a:t>
            </a:r>
          </a:p>
          <a:p>
            <a:pPr>
              <a:spcAft>
                <a:spcPts val="400"/>
              </a:spcAft>
            </a:pPr>
            <a:r>
              <a:rPr sz="950" b="0" i="0">
                <a:solidFill>
                  <a:srgbClr val="5F4E53"/>
                </a:solidFill>
                <a:latin typeface="Montserrat"/>
              </a:rPr>
              <a:t>▪  Why the problem has resisted proof</a:t>
            </a:r>
          </a:p>
          <a:p>
            <a:pPr>
              <a:spcAft>
                <a:spcPts val="400"/>
              </a:spcAft>
            </a:pPr>
            <a:r>
              <a:rPr sz="950" b="0" i="0">
                <a:solidFill>
                  <a:srgbClr val="5F4E53"/>
                </a:solidFill>
                <a:latin typeface="Montserrat"/>
              </a:rPr>
              <a:t>▪  What either answer would actually change</a:t>
            </a:r>
          </a:p>
          <a:p>
            <a:pPr>
              <a:spcAft>
                <a:spcPts val="400"/>
              </a:spcAft>
            </a:pPr>
            <a:r>
              <a:rPr sz="950" b="0" i="0">
                <a:solidFill>
                  <a:srgbClr val="5F4E53"/>
                </a:solidFill>
                <a:latin typeface="Montserrat"/>
              </a:rPr>
              <a:t>▪  Where the research currently stands</a:t>
            </a:r>
          </a:p>
        </p:txBody>
      </p:sp>
      <p:sp>
        <p:nvSpPr>
          <p:cNvPr id="13" name="Rectangle 12"/>
          <p:cNvSpPr/>
          <p:nvPr/>
        </p:nvSpPr>
        <p:spPr>
          <a:xfrm>
            <a:off x="6324447" y="1527048"/>
            <a:ext cx="5336895"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447" y="1600200"/>
            <a:ext cx="5336895"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WHAT YOU MUST BE ABLE TO DO</a:t>
            </a:r>
          </a:p>
        </p:txBody>
      </p:sp>
      <p:sp>
        <p:nvSpPr>
          <p:cNvPr id="15" name="TextBox 14"/>
          <p:cNvSpPr txBox="1"/>
          <p:nvPr/>
        </p:nvSpPr>
        <p:spPr>
          <a:xfrm>
            <a:off x="6324447" y="1874520"/>
            <a:ext cx="5336895" cy="1709928"/>
          </a:xfrm>
          <a:prstGeom prst="rect">
            <a:avLst/>
          </a:prstGeom>
          <a:noFill/>
        </p:spPr>
        <p:txBody>
          <a:bodyPr wrap="square" lIns="0" rIns="0" tIns="0" bIns="0">
            <a:spAutoFit/>
          </a:bodyPr>
          <a:lstStyle/>
          <a:p>
            <a:pPr>
              <a:spcAft>
                <a:spcPts val="400"/>
              </a:spcAft>
            </a:pPr>
            <a:r>
              <a:rPr sz="950" b="0" i="0">
                <a:solidFill>
                  <a:srgbClr val="5F4E53"/>
                </a:solidFill>
                <a:latin typeface="Montserrat"/>
              </a:rPr>
              <a:t>▪  State P and NP as the brief defines them</a:t>
            </a:r>
          </a:p>
          <a:p>
            <a:pPr>
              <a:spcAft>
                <a:spcPts val="400"/>
              </a:spcAft>
            </a:pPr>
            <a:r>
              <a:rPr sz="950" b="0" i="0">
                <a:solidFill>
                  <a:srgbClr val="5F4E53"/>
                </a:solidFill>
                <a:latin typeface="Montserrat"/>
              </a:rPr>
              <a:t>▪  Name the three barriers and what each blocks</a:t>
            </a:r>
          </a:p>
          <a:p>
            <a:pPr>
              <a:spcAft>
                <a:spcPts val="400"/>
              </a:spcAft>
            </a:pPr>
            <a:r>
              <a:rPr sz="950" b="0" i="0">
                <a:solidFill>
                  <a:srgbClr val="5F4E53"/>
                </a:solidFill>
                <a:latin typeface="Montserrat"/>
              </a:rPr>
              <a:t>▪  Separate a theorem about proof methods from a belief about the answer</a:t>
            </a:r>
          </a:p>
          <a:p>
            <a:pPr>
              <a:spcAft>
                <a:spcPts val="400"/>
              </a:spcAft>
            </a:pPr>
            <a:r>
              <a:rPr sz="950" b="0" i="0">
                <a:solidFill>
                  <a:srgbClr val="5F4E53"/>
                </a:solidFill>
                <a:latin typeface="Montserrat"/>
              </a:rPr>
              <a:t>▪  Say exactly what P != NP does and does not buy cryptography</a:t>
            </a:r>
          </a:p>
          <a:p>
            <a:pPr>
              <a:spcAft>
                <a:spcPts val="400"/>
              </a:spcAft>
            </a:pPr>
            <a:r>
              <a:rPr sz="950" b="0" i="0">
                <a:solidFill>
                  <a:srgbClr val="5F4E53"/>
                </a:solidFill>
                <a:latin typeface="Montserrat"/>
              </a:rPr>
              <a:t>▪  Describe the gap between worst-case and practical hardness</a:t>
            </a:r>
          </a:p>
        </p:txBody>
      </p:sp>
      <p:sp>
        <p:nvSpPr>
          <p:cNvPr id="16" name="TextBox 15"/>
          <p:cNvSpPr txBox="1"/>
          <p:nvPr/>
        </p:nvSpPr>
        <p:spPr>
          <a:xfrm>
            <a:off x="530352" y="3977640"/>
            <a:ext cx="5336895"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WHERE EACH PIECE LIVES</a:t>
            </a:r>
          </a:p>
        </p:txBody>
      </p:sp>
      <p:graphicFrame>
        <p:nvGraphicFramePr>
          <p:cNvPr id="17" name="Table 16"/>
          <p:cNvGraphicFramePr>
            <a:graphicFrameLocks noGrp="1"/>
          </p:cNvGraphicFramePr>
          <p:nvPr/>
        </p:nvGraphicFramePr>
        <p:xfrm>
          <a:off x="530352" y="4251960"/>
          <a:ext cx="5336896" cy="1536192"/>
        </p:xfrm>
        <a:graphic>
          <a:graphicData uri="http://schemas.openxmlformats.org/drawingml/2006/table">
            <a:tbl>
              <a:tblPr firstRow="1" bandRow="1">
                <a:tableStyleId>{5C22544A-7EE6-4342-B048-85BDC9FD1C3A}</a:tableStyleId>
              </a:tblPr>
              <a:tblGrid>
                <a:gridCol w="2668447"/>
                <a:gridCol w="2668448"/>
              </a:tblGrid>
              <a:tr h="256032">
                <a:tc>
                  <a:txBody>
                    <a:bodyPr/>
                    <a:lstStyle/>
                    <a:p>
                      <a:r>
                        <a:rPr sz="900" b="1" i="0">
                          <a:solidFill>
                            <a:srgbClr val="FFFFFF"/>
                          </a:solidFill>
                          <a:latin typeface="Montserrat"/>
                        </a:rPr>
                        <a:t>Topic</a:t>
                      </a:r>
                    </a:p>
                  </a:txBody>
                  <a:tcPr anchor="ctr" marL="54864" marR="54864">
                    <a:solidFill>
                      <a:srgbClr val="9E6474"/>
                    </a:solidFill>
                  </a:tcPr>
                </a:tc>
                <a:tc>
                  <a:txBody>
                    <a:bodyPr/>
                    <a:lstStyle/>
                    <a:p>
                      <a:r>
                        <a:rPr sz="900" b="1" i="0">
                          <a:solidFill>
                            <a:srgbClr val="FFFFFF"/>
                          </a:solidFill>
                          <a:latin typeface="Montserrat"/>
                        </a:rPr>
                        <a:t>Brief section</a:t>
                      </a:r>
                    </a:p>
                  </a:txBody>
                  <a:tcPr anchor="ctr" marL="54864" marR="54864">
                    <a:solidFill>
                      <a:srgbClr val="9E6474"/>
                    </a:solidFill>
                  </a:tcPr>
                </a:tc>
              </a:tr>
              <a:tr h="256032">
                <a:tc>
                  <a:txBody>
                    <a:bodyPr/>
                    <a:lstStyle/>
                    <a:p>
                      <a:r>
                        <a:rPr sz="900" b="0" i="0">
                          <a:solidFill>
                            <a:srgbClr val="5F4E53"/>
                          </a:solidFill>
                          <a:latin typeface="Montserrat"/>
                        </a:rPr>
                        <a:t>Definitions and notation</a:t>
                      </a:r>
                    </a:p>
                  </a:txBody>
                  <a:tcPr anchor="ctr" marL="54864" marR="54864">
                    <a:solidFill>
                      <a:srgbClr val="FDF8F8"/>
                    </a:solidFill>
                  </a:tcPr>
                </a:tc>
                <a:tc>
                  <a:txBody>
                    <a:bodyPr/>
                    <a:lstStyle/>
                    <a:p>
                      <a:r>
                        <a:rPr sz="900" b="0" i="0">
                          <a:solidFill>
                            <a:srgbClr val="5F4E53"/>
                          </a:solidFill>
                          <a:latin typeface="Montserrat"/>
                        </a:rPr>
                        <a:t>2, and 6.3</a:t>
                      </a:r>
                    </a:p>
                  </a:txBody>
                  <a:tcPr anchor="ctr" marL="54864" marR="54864">
                    <a:solidFill>
                      <a:srgbClr val="FDF8F8"/>
                    </a:solidFill>
                  </a:tcPr>
                </a:tc>
              </a:tr>
              <a:tr h="256032">
                <a:tc>
                  <a:txBody>
                    <a:bodyPr/>
                    <a:lstStyle/>
                    <a:p>
                      <a:r>
                        <a:rPr sz="900" b="0" i="0">
                          <a:solidFill>
                            <a:srgbClr val="5F4E53"/>
                          </a:solidFill>
                          <a:latin typeface="Montserrat"/>
                        </a:rPr>
                        <a:t>Formal statement</a:t>
                      </a:r>
                    </a:p>
                  </a:txBody>
                  <a:tcPr anchor="ctr" marL="54864" marR="54864">
                    <a:solidFill>
                      <a:srgbClr val="FBF2F3"/>
                    </a:solidFill>
                  </a:tcPr>
                </a:tc>
                <a:tc>
                  <a:txBody>
                    <a:bodyPr/>
                    <a:lstStyle/>
                    <a:p>
                      <a:r>
                        <a:rPr sz="900" b="0" i="0">
                          <a:solidFill>
                            <a:srgbClr val="5F4E53"/>
                          </a:solidFill>
                          <a:latin typeface="Montserrat"/>
                        </a:rPr>
                        <a:t>3.1</a:t>
                      </a:r>
                    </a:p>
                  </a:txBody>
                  <a:tcPr anchor="ctr" marL="54864" marR="54864">
                    <a:solidFill>
                      <a:srgbClr val="FBF2F3"/>
                    </a:solidFill>
                  </a:tcPr>
                </a:tc>
              </a:tr>
              <a:tr h="256032">
                <a:tc>
                  <a:txBody>
                    <a:bodyPr/>
                    <a:lstStyle/>
                    <a:p>
                      <a:r>
                        <a:rPr sz="900" b="0" i="0">
                          <a:solidFill>
                            <a:srgbClr val="5F4E53"/>
                          </a:solidFill>
                          <a:latin typeface="Montserrat"/>
                        </a:rPr>
                        <a:t>Cook-Levin and NP-completeness</a:t>
                      </a:r>
                    </a:p>
                  </a:txBody>
                  <a:tcPr anchor="ctr" marL="54864" marR="54864">
                    <a:solidFill>
                      <a:srgbClr val="FDF8F8"/>
                    </a:solidFill>
                  </a:tcPr>
                </a:tc>
                <a:tc>
                  <a:txBody>
                    <a:bodyPr/>
                    <a:lstStyle/>
                    <a:p>
                      <a:r>
                        <a:rPr sz="900" b="0" i="0">
                          <a:solidFill>
                            <a:srgbClr val="5F4E53"/>
                          </a:solidFill>
                          <a:latin typeface="Montserrat"/>
                        </a:rPr>
                        <a:t>3.2</a:t>
                      </a:r>
                    </a:p>
                  </a:txBody>
                  <a:tcPr anchor="ctr" marL="54864" marR="54864">
                    <a:solidFill>
                      <a:srgbClr val="FDF8F8"/>
                    </a:solidFill>
                  </a:tcPr>
                </a:tc>
              </a:tr>
              <a:tr h="256032">
                <a:tc>
                  <a:txBody>
                    <a:bodyPr/>
                    <a:lstStyle/>
                    <a:p>
                      <a:r>
                        <a:rPr sz="900" b="0" i="0">
                          <a:solidFill>
                            <a:srgbClr val="5F4E53"/>
                          </a:solidFill>
                          <a:latin typeface="Montserrat"/>
                        </a:rPr>
                        <a:t>The three barriers</a:t>
                      </a:r>
                    </a:p>
                  </a:txBody>
                  <a:tcPr anchor="ctr" marL="54864" marR="54864">
                    <a:solidFill>
                      <a:srgbClr val="FBF2F3"/>
                    </a:solidFill>
                  </a:tcPr>
                </a:tc>
                <a:tc>
                  <a:txBody>
                    <a:bodyPr/>
                    <a:lstStyle/>
                    <a:p>
                      <a:r>
                        <a:rPr sz="900" b="0" i="0">
                          <a:solidFill>
                            <a:srgbClr val="5F4E53"/>
                          </a:solidFill>
                          <a:latin typeface="Montserrat"/>
                        </a:rPr>
                        <a:t>3.3</a:t>
                      </a:r>
                    </a:p>
                  </a:txBody>
                  <a:tcPr anchor="ctr" marL="54864" marR="54864">
                    <a:solidFill>
                      <a:srgbClr val="FBF2F3"/>
                    </a:solidFill>
                  </a:tcPr>
                </a:tc>
              </a:tr>
              <a:tr h="256032">
                <a:tc>
                  <a:txBody>
                    <a:bodyPr/>
                    <a:lstStyle/>
                    <a:p>
                      <a:r>
                        <a:rPr sz="900" b="0" i="0">
                          <a:solidFill>
                            <a:srgbClr val="5F4E53"/>
                          </a:solidFill>
                          <a:latin typeface="Montserrat"/>
                        </a:rPr>
                        <a:t>Consequences, status, misconceptions</a:t>
                      </a:r>
                    </a:p>
                  </a:txBody>
                  <a:tcPr anchor="ctr" marL="54864" marR="54864">
                    <a:solidFill>
                      <a:srgbClr val="FDF8F8"/>
                    </a:solidFill>
                  </a:tcPr>
                </a:tc>
                <a:tc>
                  <a:txBody>
                    <a:bodyPr/>
                    <a:lstStyle/>
                    <a:p>
                      <a:r>
                        <a:rPr sz="900" b="0" i="0">
                          <a:solidFill>
                            <a:srgbClr val="5F4E53"/>
                          </a:solidFill>
                          <a:latin typeface="Montserrat"/>
                        </a:rPr>
                        <a:t>3.4, 3.5, 4</a:t>
                      </a:r>
                    </a:p>
                  </a:txBody>
                  <a:tcPr anchor="ctr" marL="54864" marR="54864">
                    <a:solidFill>
                      <a:srgbClr val="FDF8F8"/>
                    </a:solidFill>
                  </a:tcPr>
                </a:tc>
              </a:tr>
            </a:tbl>
          </a:graphicData>
        </a:graphic>
      </p:graphicFrame>
      <p:sp>
        <p:nvSpPr>
          <p:cNvPr id="18" name="Rectangle 17"/>
          <p:cNvSpPr/>
          <p:nvPr/>
        </p:nvSpPr>
        <p:spPr>
          <a:xfrm>
            <a:off x="6324447" y="3904488"/>
            <a:ext cx="5336895"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4447" y="3977640"/>
            <a:ext cx="5336895"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COMMON TRAPS</a:t>
            </a:r>
          </a:p>
        </p:txBody>
      </p:sp>
      <p:sp>
        <p:nvSpPr>
          <p:cNvPr id="20" name="TextBox 19"/>
          <p:cNvSpPr txBox="1"/>
          <p:nvPr/>
        </p:nvSpPr>
        <p:spPr>
          <a:xfrm>
            <a:off x="6324447" y="4251960"/>
            <a:ext cx="5336895" cy="1709928"/>
          </a:xfrm>
          <a:prstGeom prst="rect">
            <a:avLst/>
          </a:prstGeom>
          <a:noFill/>
        </p:spPr>
        <p:txBody>
          <a:bodyPr wrap="square" lIns="0" rIns="0" tIns="0" bIns="0">
            <a:spAutoFit/>
          </a:bodyPr>
          <a:lstStyle/>
          <a:p>
            <a:pPr>
              <a:spcAft>
                <a:spcPts val="400"/>
              </a:spcAft>
            </a:pPr>
            <a:r>
              <a:rPr sz="950" b="0" i="0">
                <a:solidFill>
                  <a:srgbClr val="5F4E53"/>
                </a:solidFill>
                <a:latin typeface="Montserrat"/>
              </a:rPr>
              <a:t>▪  Treating it as a loose claim about which problems feel hard, rather than a precise statement about two classes of languages</a:t>
            </a:r>
          </a:p>
          <a:p>
            <a:pPr>
              <a:spcAft>
                <a:spcPts val="400"/>
              </a:spcAft>
            </a:pPr>
            <a:r>
              <a:rPr sz="950" b="0" i="0">
                <a:solidFill>
                  <a:srgbClr val="5F4E53"/>
                </a:solidFill>
                <a:latin typeface="Montserrat"/>
              </a:rPr>
              <a:t>▪  Reading the barriers as evidence that P != NP</a:t>
            </a:r>
          </a:p>
          <a:p>
            <a:pPr>
              <a:spcAft>
                <a:spcPts val="400"/>
              </a:spcAft>
            </a:pPr>
            <a:r>
              <a:rPr sz="950" b="0" i="0">
                <a:solidFill>
                  <a:srgbClr val="5F4E53"/>
                </a:solidFill>
                <a:latin typeface="Montserrat"/>
              </a:rPr>
              <a:t>▪  Assuming P != NP is enough for public-key cryptography</a:t>
            </a:r>
          </a:p>
          <a:p>
            <a:pPr>
              <a:spcAft>
                <a:spcPts val="400"/>
              </a:spcAft>
            </a:pPr>
            <a:r>
              <a:rPr sz="950" b="0" i="0">
                <a:solidFill>
                  <a:srgbClr val="5F4E53"/>
                </a:solidFill>
                <a:latin typeface="Montserrat"/>
              </a:rPr>
              <a:t>▪  Conflating worst-case intractability with practical intractability</a:t>
            </a:r>
          </a:p>
        </p:txBody>
      </p:sp>
      <p:sp>
        <p:nvSpPr>
          <p:cNvPr id="21" name="TextBox 20"/>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The only source indexed for this subject is the research brief P_vs_NP_research_brief.docx. There is no lecture, slide deck, textbook or problem set (hypothetical course). Its full section list: 1 Short Answer; 2 Definitions and Notation; 3 Key Findings by Topic (3.1 formal statement, 3.2 Cook-Levin, 3.3 why it is open, 3.4 what follows from either answer, 3.5 where the research stands, 3.6 claimed proofs); 4 Common Misconceptions; 5 Open Questions and What to Ask; 6 Method, Scope and Source Basis (6.1 to 6.4); 7 Sources.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103120"/>
            <a:ext cx="2743200" cy="457200"/>
          </a:xfrm>
          <a:prstGeom prst="rect">
            <a:avLst/>
          </a:prstGeom>
          <a:noFill/>
        </p:spPr>
        <p:txBody>
          <a:bodyPr wrap="square" lIns="0" rIns="0" tIns="0" bIns="0">
            <a:spAutoFit/>
          </a:bodyPr>
          <a:lstStyle/>
          <a:p>
            <a:pPr>
              <a:spcAft>
                <a:spcPts val="0"/>
              </a:spcAft>
            </a:pPr>
            <a:r>
              <a:rPr sz="2200" b="1" i="0">
                <a:solidFill>
                  <a:srgbClr val="D98F98"/>
                </a:solidFill>
                <a:latin typeface="Montserrat"/>
              </a:rPr>
              <a:t>1</a:t>
            </a:r>
          </a:p>
        </p:txBody>
      </p:sp>
      <p:sp>
        <p:nvSpPr>
          <p:cNvPr id="4" name="TextBox 3"/>
          <p:cNvSpPr txBox="1"/>
          <p:nvPr/>
        </p:nvSpPr>
        <p:spPr>
          <a:xfrm>
            <a:off x="530352" y="2697480"/>
            <a:ext cx="8229600" cy="320040"/>
          </a:xfrm>
          <a:prstGeom prst="rect">
            <a:avLst/>
          </a:prstGeom>
          <a:noFill/>
        </p:spPr>
        <p:txBody>
          <a:bodyPr wrap="square" lIns="0" rIns="0" tIns="0" bIns="0">
            <a:spAutoFit/>
          </a:bodyPr>
          <a:lstStyle/>
          <a:p>
            <a:pPr>
              <a:spcAft>
                <a:spcPts val="0"/>
              </a:spcAft>
            </a:pPr>
            <a:r>
              <a:rPr sz="1000" b="1" i="0">
                <a:solidFill>
                  <a:srgbClr val="D98F98"/>
                </a:solidFill>
                <a:latin typeface="Montserrat"/>
              </a:rPr>
              <a:t>SECTION 1</a:t>
            </a:r>
          </a:p>
        </p:txBody>
      </p:sp>
      <p:sp>
        <p:nvSpPr>
          <p:cNvPr id="5" name="TextBox 4"/>
          <p:cNvSpPr txBox="1"/>
          <p:nvPr/>
        </p:nvSpPr>
        <p:spPr>
          <a:xfrm>
            <a:off x="530352" y="3063240"/>
            <a:ext cx="8686800" cy="822960"/>
          </a:xfrm>
          <a:prstGeom prst="rect">
            <a:avLst/>
          </a:prstGeom>
          <a:noFill/>
        </p:spPr>
        <p:txBody>
          <a:bodyPr wrap="square" lIns="0" rIns="0" tIns="0" bIns="0">
            <a:spAutoFit/>
          </a:bodyPr>
          <a:lstStyle/>
          <a:p>
            <a:pPr>
              <a:spcAft>
                <a:spcPts val="0"/>
              </a:spcAft>
            </a:pPr>
            <a:r>
              <a:rPr sz="3400" b="1" i="0">
                <a:solidFill>
                  <a:srgbClr val="FFFFFF"/>
                </a:solidFill>
                <a:latin typeface="Montserrat"/>
              </a:rPr>
              <a:t>THE QUESTION AND ITS MACHINERY</a:t>
            </a:r>
          </a:p>
        </p:txBody>
      </p:sp>
      <p:sp>
        <p:nvSpPr>
          <p:cNvPr id="6" name="TextBox 5"/>
          <p:cNvSpPr txBox="1"/>
          <p:nvPr/>
        </p:nvSpPr>
        <p:spPr>
          <a:xfrm>
            <a:off x="530352" y="4069080"/>
            <a:ext cx="7772400" cy="457200"/>
          </a:xfrm>
          <a:prstGeom prst="rect">
            <a:avLst/>
          </a:prstGeom>
          <a:noFill/>
        </p:spPr>
        <p:txBody>
          <a:bodyPr wrap="square" lIns="0" rIns="0" tIns="0" bIns="0">
            <a:spAutoFit/>
          </a:bodyPr>
          <a:lstStyle/>
          <a:p>
            <a:pPr>
              <a:spcAft>
                <a:spcPts val="0"/>
              </a:spcAft>
            </a:pPr>
            <a:r>
              <a:rPr sz="1200" b="0" i="0">
                <a:solidFill>
                  <a:srgbClr val="FFFFFF"/>
                </a:solidFill>
                <a:latin typeface="Montserrat"/>
              </a:rPr>
              <a:t>What P versus NP states, in what notation, and the completeness apparatus that gives it teeth.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P AND NP, SIDE BY SIDE</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The brief's own statement of the question: 'Whether every problem with an efficiently verifiable solution also has an efficiently computable one [1].' Written 'P =? NP'. This is the brief's wording, not Cook's official statement.</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5</a:t>
            </a:r>
          </a:p>
        </p:txBody>
      </p:sp>
      <p:sp>
        <p:nvSpPr>
          <p:cNvPr id="10" name="Rectangle 9"/>
          <p:cNvSpPr/>
          <p:nvPr/>
        </p:nvSpPr>
        <p:spPr>
          <a:xfrm>
            <a:off x="530352" y="1554480"/>
            <a:ext cx="5336895"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627632"/>
            <a:ext cx="5336895"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P (BRIEF, SECTION 2, VERBATIM)</a:t>
            </a:r>
          </a:p>
        </p:txBody>
      </p:sp>
      <p:sp>
        <p:nvSpPr>
          <p:cNvPr id="12" name="TextBox 11"/>
          <p:cNvSpPr txBox="1"/>
          <p:nvPr/>
        </p:nvSpPr>
        <p:spPr>
          <a:xfrm>
            <a:off x="530352" y="1901952"/>
            <a:ext cx="5336895" cy="3310128"/>
          </a:xfrm>
          <a:prstGeom prst="rect">
            <a:avLst/>
          </a:prstGeom>
          <a:noFill/>
        </p:spPr>
        <p:txBody>
          <a:bodyPr wrap="square" lIns="0" rIns="0" tIns="0" bIns="0">
            <a:spAutoFit/>
          </a:bodyPr>
          <a:lstStyle/>
          <a:p>
            <a:pPr>
              <a:spcAft>
                <a:spcPts val="400"/>
              </a:spcAft>
            </a:pPr>
            <a:r>
              <a:rPr sz="950" b="0" i="0">
                <a:solidFill>
                  <a:srgbClr val="5F4E53"/>
                </a:solidFill>
                <a:latin typeface="Montserrat"/>
              </a:rPr>
              <a:t>'The class of decision problems (languages) solvable by an algorithm within a number of steps bounded by a fixed polynomial in the input length [1]. The class contains problems solvable in polynomial time [4].'</a:t>
            </a:r>
          </a:p>
          <a:p>
            <a:pPr>
              <a:spcAft>
                <a:spcPts val="400"/>
              </a:spcAft>
            </a:pPr>
            <a:r>
              <a:rPr sz="950" b="0" i="0">
                <a:solidFill>
                  <a:srgbClr val="5F4E53"/>
                </a:solidFill>
                <a:latin typeface="Montserrat"/>
              </a:rPr>
              <a:t>Notation used here: P. Rendered as bold or sans-serif capitals in typeset sources.</a:t>
            </a:r>
          </a:p>
          <a:p>
            <a:pPr>
              <a:spcAft>
                <a:spcPts val="400"/>
              </a:spcAft>
            </a:pPr>
            <a:r>
              <a:rPr sz="950" b="0" i="0">
                <a:solidFill>
                  <a:srgbClr val="5F4E53"/>
                </a:solidFill>
                <a:latin typeface="Montserrat"/>
              </a:rPr>
              <a:t>Where the idea comes from: the brief traces a notion of 'efficient computation' to Jack Edmonds, who proposed it in 1965 alongside his matching algorithm [1]. The brief does not say that Edmonds defined the class P.</a:t>
            </a:r>
          </a:p>
        </p:txBody>
      </p:sp>
      <p:sp>
        <p:nvSpPr>
          <p:cNvPr id="13" name="Rectangle 12"/>
          <p:cNvSpPr/>
          <p:nvPr/>
        </p:nvSpPr>
        <p:spPr>
          <a:xfrm>
            <a:off x="6324447" y="1554480"/>
            <a:ext cx="5336895"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447" y="1627632"/>
            <a:ext cx="5336895"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NP (BRIEF, SECTION 2, VERBATIM)</a:t>
            </a:r>
          </a:p>
        </p:txBody>
      </p:sp>
      <p:sp>
        <p:nvSpPr>
          <p:cNvPr id="15" name="TextBox 14"/>
          <p:cNvSpPr txBox="1"/>
          <p:nvPr/>
        </p:nvSpPr>
        <p:spPr>
          <a:xfrm>
            <a:off x="6324447" y="1901952"/>
            <a:ext cx="5336895" cy="3310128"/>
          </a:xfrm>
          <a:prstGeom prst="rect">
            <a:avLst/>
          </a:prstGeom>
          <a:noFill/>
        </p:spPr>
        <p:txBody>
          <a:bodyPr wrap="square" lIns="0" rIns="0" tIns="0" bIns="0">
            <a:spAutoFit/>
          </a:bodyPr>
          <a:lstStyle/>
          <a:p>
            <a:pPr>
              <a:spcAft>
                <a:spcPts val="400"/>
              </a:spcAft>
            </a:pPr>
            <a:r>
              <a:rPr sz="950" b="0" i="0">
                <a:solidFill>
                  <a:srgbClr val="5F4E53"/>
                </a:solidFill>
                <a:latin typeface="Montserrat"/>
              </a:rPr>
              <a:t>'The collection of problems that have efficiently verifiable solutions [1]. Equivalently, membership in NP means any proposed solution can be verified in polynomial time by a deterministic computer [4].'</a:t>
            </a:r>
          </a:p>
          <a:p>
            <a:pPr>
              <a:spcAft>
                <a:spcPts val="400"/>
              </a:spcAft>
            </a:pPr>
            <a:r>
              <a:rPr sz="950" b="0" i="0">
                <a:solidFill>
                  <a:srgbClr val="5F4E53"/>
                </a:solidFill>
                <a:latin typeface="Montserrat"/>
              </a:rPr>
              <a:t>Notation used here: NP. The name abbreviates 'Nondeterministic Polynomial-Time' [1], not 'non-polynomial'. That is a standard exam trap.</a:t>
            </a:r>
          </a:p>
          <a:p>
            <a:pPr>
              <a:spcAft>
                <a:spcPts val="400"/>
              </a:spcAft>
            </a:pPr>
            <a:r>
              <a:rPr sz="950" b="0" i="0">
                <a:solidFill>
                  <a:srgbClr val="5F4E53"/>
                </a:solidFill>
                <a:latin typeface="Montserrat"/>
              </a:rPr>
              <a:t>Caveat, and it matters: the brief uses the verifier formulation only. It gives no formal or symbolic definition of NP: no certificate or witness, no polynomial length bound on one, no nondeterministic-Turing-machine formulation, no 'L is in NP if and only if ...'. Treat the wording above as the brief's characterisation, never as the formal definition.</a:t>
            </a:r>
          </a:p>
        </p:txBody>
      </p:sp>
      <p:sp>
        <p:nvSpPr>
          <p:cNvPr id="16" name="TextBox 15"/>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[not found in the sources: the formal statement of P versus NP as Stephen Cook states it officially] The brief identified Cook's official Clay Mathematics Institute problem description (claymath.org/wp-content/uploads/2022/06/pvsnp.pdf, given as plain text and deliberately not linked, because the brief never retrieved it) but never opened it, and states that everything its section 3.1 says about the formal statement rests on secondary accounts. The question is a precise statement about two classes of languages, not a loose claim about which problems feel hard.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NOTATION: WHAT THIS GUIDE WRITES, AND WHAT YOU MAY MEET</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The brief's section 2 table names an alternative convention only where the field uses more than one, so 'none named' means the brief named none.</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6</a:t>
            </a:r>
          </a:p>
        </p:txBody>
      </p:sp>
      <p:graphicFrame>
        <p:nvGraphicFramePr>
          <p:cNvPr id="10" name="Table 9"/>
          <p:cNvGraphicFramePr>
            <a:graphicFrameLocks noGrp="1"/>
          </p:cNvGraphicFramePr>
          <p:nvPr/>
        </p:nvGraphicFramePr>
        <p:xfrm>
          <a:off x="530352" y="1572768"/>
          <a:ext cx="11130990" cy="2816352"/>
        </p:xfrm>
        <a:graphic>
          <a:graphicData uri="http://schemas.openxmlformats.org/drawingml/2006/table">
            <a:tbl>
              <a:tblPr firstRow="1" bandRow="1">
                <a:tableStyleId>{5C22544A-7EE6-4342-B048-85BDC9FD1C3A}</a:tableStyleId>
              </a:tblPr>
              <a:tblGrid>
                <a:gridCol w="2671437"/>
                <a:gridCol w="4897636"/>
                <a:gridCol w="3561917"/>
              </a:tblGrid>
              <a:tr h="256032">
                <a:tc>
                  <a:txBody>
                    <a:bodyPr/>
                    <a:lstStyle/>
                    <a:p>
                      <a:r>
                        <a:rPr sz="900" b="1" i="0">
                          <a:solidFill>
                            <a:srgbClr val="FFFFFF"/>
                          </a:solidFill>
                          <a:latin typeface="Montserrat"/>
                        </a:rPr>
                        <a:t>Item</a:t>
                      </a:r>
                    </a:p>
                  </a:txBody>
                  <a:tcPr anchor="ctr" marL="54864" marR="54864">
                    <a:solidFill>
                      <a:srgbClr val="9E6474"/>
                    </a:solidFill>
                  </a:tcPr>
                </a:tc>
                <a:tc>
                  <a:txBody>
                    <a:bodyPr/>
                    <a:lstStyle/>
                    <a:p>
                      <a:r>
                        <a:rPr sz="900" b="1" i="0">
                          <a:solidFill>
                            <a:srgbClr val="FFFFFF"/>
                          </a:solidFill>
                          <a:latin typeface="Montserrat"/>
                        </a:rPr>
                        <a:t>Notation used here (brief, section 2)</a:t>
                      </a:r>
                    </a:p>
                  </a:txBody>
                  <a:tcPr anchor="ctr" marL="54864" marR="54864">
                    <a:solidFill>
                      <a:srgbClr val="9E6474"/>
                    </a:solidFill>
                  </a:tcPr>
                </a:tc>
                <a:tc>
                  <a:txBody>
                    <a:bodyPr/>
                    <a:lstStyle/>
                    <a:p>
                      <a:r>
                        <a:rPr sz="900" b="1" i="0">
                          <a:solidFill>
                            <a:srgbClr val="FFFFFF"/>
                          </a:solidFill>
                          <a:latin typeface="Montserrat"/>
                        </a:rPr>
                        <a:t>Alternative named in the brief</a:t>
                      </a:r>
                    </a:p>
                  </a:txBody>
                  <a:tcPr anchor="ctr" marL="54864" marR="54864">
                    <a:solidFill>
                      <a:srgbClr val="9E6474"/>
                    </a:solidFill>
                  </a:tcPr>
                </a:tc>
              </a:tr>
              <a:tr h="256032">
                <a:tc>
                  <a:txBody>
                    <a:bodyPr/>
                    <a:lstStyle/>
                    <a:p>
                      <a:r>
                        <a:rPr sz="900" b="0" i="0">
                          <a:solidFill>
                            <a:srgbClr val="5F4E53"/>
                          </a:solidFill>
                          <a:latin typeface="Montserrat"/>
                        </a:rPr>
                        <a:t>The P versus NP question</a:t>
                      </a:r>
                    </a:p>
                  </a:txBody>
                  <a:tcPr anchor="ctr" marL="54864" marR="54864">
                    <a:solidFill>
                      <a:srgbClr val="FDF8F8"/>
                    </a:solidFill>
                  </a:tcPr>
                </a:tc>
                <a:tc>
                  <a:txBody>
                    <a:bodyPr/>
                    <a:lstStyle/>
                    <a:p>
                      <a:r>
                        <a:rPr sz="900" b="0" i="0">
                          <a:solidFill>
                            <a:srgbClr val="5F4E53"/>
                          </a:solidFill>
                          <a:latin typeface="Montserrat"/>
                        </a:rPr>
                        <a:t>P =? NP</a:t>
                      </a:r>
                    </a:p>
                  </a:txBody>
                  <a:tcPr anchor="ctr" marL="54864" marR="54864">
                    <a:solidFill>
                      <a:srgbClr val="FDF8F8"/>
                    </a:solidFill>
                  </a:tcPr>
                </a:tc>
                <a:tc>
                  <a:txBody>
                    <a:bodyPr/>
                    <a:lstStyle/>
                    <a:p>
                      <a:r>
                        <a:rPr sz="900" b="0" i="0">
                          <a:solidFill>
                            <a:srgbClr val="5F4E53"/>
                          </a:solidFill>
                          <a:latin typeface="Montserrat"/>
                        </a:rPr>
                        <a:t>None named</a:t>
                      </a:r>
                    </a:p>
                  </a:txBody>
                  <a:tcPr anchor="ctr" marL="54864" marR="54864">
                    <a:solidFill>
                      <a:srgbClr val="FDF8F8"/>
                    </a:solidFill>
                  </a:tcPr>
                </a:tc>
              </a:tr>
              <a:tr h="256032">
                <a:tc>
                  <a:txBody>
                    <a:bodyPr/>
                    <a:lstStyle/>
                    <a:p>
                      <a:r>
                        <a:rPr sz="900" b="0" i="0">
                          <a:solidFill>
                            <a:srgbClr val="5F4E53"/>
                          </a:solidFill>
                          <a:latin typeface="Montserrat"/>
                        </a:rPr>
                        <a:t>Negation of the conjecture</a:t>
                      </a:r>
                    </a:p>
                  </a:txBody>
                  <a:tcPr anchor="ctr" marL="54864" marR="54864">
                    <a:solidFill>
                      <a:srgbClr val="FBF2F3"/>
                    </a:solidFill>
                  </a:tcPr>
                </a:tc>
                <a:tc>
                  <a:txBody>
                    <a:bodyPr/>
                    <a:lstStyle/>
                    <a:p>
                      <a:r>
                        <a:rPr sz="900" b="0" i="0">
                          <a:solidFill>
                            <a:srgbClr val="5F4E53"/>
                          </a:solidFill>
                          <a:latin typeface="Montserrat"/>
                        </a:rPr>
                        <a:t>P != NP</a:t>
                      </a:r>
                    </a:p>
                  </a:txBody>
                  <a:tcPr anchor="ctr" marL="54864" marR="54864">
                    <a:solidFill>
                      <a:srgbClr val="FBF2F3"/>
                    </a:solidFill>
                  </a:tcPr>
                </a:tc>
                <a:tc>
                  <a:txBody>
                    <a:bodyPr/>
                    <a:lstStyle/>
                    <a:p>
                      <a:r>
                        <a:rPr sz="900" b="0" i="0">
                          <a:solidFill>
                            <a:srgbClr val="5F4E53"/>
                          </a:solidFill>
                          <a:latin typeface="Montserrat"/>
                        </a:rPr>
                        <a:t>A struck equals sign. Your course will almost certainly write it that way.</a:t>
                      </a:r>
                    </a:p>
                  </a:txBody>
                  <a:tcPr anchor="ctr" marL="54864" marR="54864">
                    <a:solidFill>
                      <a:srgbClr val="FBF2F3"/>
                    </a:solidFill>
                  </a:tcPr>
                </a:tc>
              </a:tr>
              <a:tr h="256032">
                <a:tc>
                  <a:txBody>
                    <a:bodyPr/>
                    <a:lstStyle/>
                    <a:p>
                      <a:r>
                        <a:rPr sz="900" b="0" i="0">
                          <a:solidFill>
                            <a:srgbClr val="5F4E53"/>
                          </a:solidFill>
                          <a:latin typeface="Montserrat"/>
                        </a:rPr>
                        <a:t>Class-name typography</a:t>
                      </a:r>
                    </a:p>
                  </a:txBody>
                  <a:tcPr anchor="ctr" marL="54864" marR="54864">
                    <a:solidFill>
                      <a:srgbClr val="FDF8F8"/>
                    </a:solidFill>
                  </a:tcPr>
                </a:tc>
                <a:tc>
                  <a:txBody>
                    <a:bodyPr/>
                    <a:lstStyle/>
                    <a:p>
                      <a:r>
                        <a:rPr sz="900" b="0" i="0">
                          <a:solidFill>
                            <a:srgbClr val="5F4E53"/>
                          </a:solidFill>
                          <a:latin typeface="Montserrat"/>
                        </a:rPr>
                        <a:t>P, NP, plain capitals</a:t>
                      </a:r>
                    </a:p>
                  </a:txBody>
                  <a:tcPr anchor="ctr" marL="54864" marR="54864">
                    <a:solidFill>
                      <a:srgbClr val="FDF8F8"/>
                    </a:solidFill>
                  </a:tcPr>
                </a:tc>
                <a:tc>
                  <a:txBody>
                    <a:bodyPr/>
                    <a:lstStyle/>
                    <a:p>
                      <a:r>
                        <a:rPr sz="900" b="0" i="0">
                          <a:solidFill>
                            <a:srgbClr val="5F4E53"/>
                          </a:solidFill>
                          <a:latin typeface="Montserrat"/>
                        </a:rPr>
                        <a:t>Bold or sans-serif capitals in typeset sources</a:t>
                      </a:r>
                    </a:p>
                  </a:txBody>
                  <a:tcPr anchor="ctr" marL="54864" marR="54864">
                    <a:solidFill>
                      <a:srgbClr val="FDF8F8"/>
                    </a:solidFill>
                  </a:tcPr>
                </a:tc>
              </a:tr>
              <a:tr h="256032">
                <a:tc>
                  <a:txBody>
                    <a:bodyPr/>
                    <a:lstStyle/>
                    <a:p>
                      <a:r>
                        <a:rPr sz="900" b="0" i="0">
                          <a:solidFill>
                            <a:srgbClr val="5F4E53"/>
                          </a:solidFill>
                          <a:latin typeface="Montserrat"/>
                        </a:rPr>
                        <a:t>Definition of NP</a:t>
                      </a:r>
                    </a:p>
                  </a:txBody>
                  <a:tcPr anchor="ctr" marL="54864" marR="54864">
                    <a:solidFill>
                      <a:srgbClr val="FBF2F3"/>
                    </a:solidFill>
                  </a:tcPr>
                </a:tc>
                <a:tc>
                  <a:txBody>
                    <a:bodyPr/>
                    <a:lstStyle/>
                    <a:p>
                      <a:r>
                        <a:rPr sz="900" b="0" i="0">
                          <a:solidFill>
                            <a:srgbClr val="5F4E53"/>
                          </a:solidFill>
                          <a:latin typeface="Montserrat"/>
                        </a:rPr>
                        <a:t>NP. The name abbreviates 'Nondeterministic Polynomial-Time' [1], not 'non-polynomial'.</a:t>
                      </a:r>
                    </a:p>
                  </a:txBody>
                  <a:tcPr anchor="ctr" marL="54864" marR="54864">
                    <a:solidFill>
                      <a:srgbClr val="FBF2F3"/>
                    </a:solidFill>
                  </a:tcPr>
                </a:tc>
                <a:tc>
                  <a:txBody>
                    <a:bodyPr/>
                    <a:lstStyle/>
                    <a:p>
                      <a:r>
                        <a:rPr sz="900" b="0" i="0">
                          <a:solidFill>
                            <a:srgbClr val="5F4E53"/>
                          </a:solidFill>
                          <a:latin typeface="Montserrat"/>
                        </a:rPr>
                        <a:t>None named in the brief</a:t>
                      </a:r>
                    </a:p>
                  </a:txBody>
                  <a:tcPr anchor="ctr" marL="54864" marR="54864">
                    <a:solidFill>
                      <a:srgbClr val="FBF2F3"/>
                    </a:solidFill>
                  </a:tcPr>
                </a:tc>
              </a:tr>
              <a:tr h="256032">
                <a:tc>
                  <a:txBody>
                    <a:bodyPr/>
                    <a:lstStyle/>
                    <a:p>
                      <a:r>
                        <a:rPr sz="900" b="0" i="0">
                          <a:solidFill>
                            <a:srgbClr val="5F4E53"/>
                          </a:solidFill>
                          <a:latin typeface="Montserrat"/>
                        </a:rPr>
                        <a:t>Polynomial-time reduction</a:t>
                      </a:r>
                    </a:p>
                  </a:txBody>
                  <a:tcPr anchor="ctr" marL="54864" marR="54864">
                    <a:solidFill>
                      <a:srgbClr val="FDF8F8"/>
                    </a:solidFill>
                  </a:tcPr>
                </a:tc>
                <a:tc>
                  <a:txBody>
                    <a:bodyPr/>
                    <a:lstStyle/>
                    <a:p>
                      <a:r>
                        <a:rPr sz="900" b="0" i="0">
                          <a:solidFill>
                            <a:srgbClr val="5F4E53"/>
                          </a:solidFill>
                          <a:latin typeface="Montserrat"/>
                        </a:rPr>
                        <a:t>A &lt;=p B</a:t>
                      </a:r>
                    </a:p>
                  </a:txBody>
                  <a:tcPr anchor="ctr" marL="54864" marR="54864">
                    <a:solidFill>
                      <a:srgbClr val="FDF8F8"/>
                    </a:solidFill>
                  </a:tcPr>
                </a:tc>
                <a:tc>
                  <a:txBody>
                    <a:bodyPr/>
                    <a:lstStyle/>
                    <a:p>
                      <a:r>
                        <a:rPr sz="900" b="0" i="0">
                          <a:solidFill>
                            <a:srgbClr val="5F4E53"/>
                          </a:solidFill>
                          <a:latin typeface="Montserrat"/>
                        </a:rPr>
                        <a:t>None named in the brief</a:t>
                      </a:r>
                    </a:p>
                  </a:txBody>
                  <a:tcPr anchor="ctr" marL="54864" marR="54864">
                    <a:solidFill>
                      <a:srgbClr val="FDF8F8"/>
                    </a:solidFill>
                  </a:tcPr>
                </a:tc>
              </a:tr>
              <a:tr h="256032">
                <a:tc>
                  <a:txBody>
                    <a:bodyPr/>
                    <a:lstStyle/>
                    <a:p>
                      <a:r>
                        <a:rPr sz="900" b="0" i="0">
                          <a:solidFill>
                            <a:srgbClr val="5F4E53"/>
                          </a:solidFill>
                          <a:latin typeface="Montserrat"/>
                        </a:rPr>
                        <a:t>NP-hard</a:t>
                      </a:r>
                    </a:p>
                  </a:txBody>
                  <a:tcPr anchor="ctr" marL="54864" marR="54864">
                    <a:solidFill>
                      <a:srgbClr val="FBF2F3"/>
                    </a:solidFill>
                  </a:tcPr>
                </a:tc>
                <a:tc>
                  <a:txBody>
                    <a:bodyPr/>
                    <a:lstStyle/>
                    <a:p>
                      <a:r>
                        <a:rPr sz="900" b="0" i="0">
                          <a:solidFill>
                            <a:srgbClr val="5F4E53"/>
                          </a:solidFill>
                          <a:latin typeface="Montserrat"/>
                        </a:rPr>
                        <a:t>NP-hard</a:t>
                      </a:r>
                    </a:p>
                  </a:txBody>
                  <a:tcPr anchor="ctr" marL="54864" marR="54864">
                    <a:solidFill>
                      <a:srgbClr val="FBF2F3"/>
                    </a:solidFill>
                  </a:tcPr>
                </a:tc>
                <a:tc>
                  <a:txBody>
                    <a:bodyPr/>
                    <a:lstStyle/>
                    <a:p>
                      <a:r>
                        <a:rPr sz="900" b="0" i="0">
                          <a:solidFill>
                            <a:srgbClr val="5F4E53"/>
                          </a:solidFill>
                          <a:latin typeface="Montserrat"/>
                        </a:rPr>
                        <a:t>None named</a:t>
                      </a:r>
                    </a:p>
                  </a:txBody>
                  <a:tcPr anchor="ctr" marL="54864" marR="54864">
                    <a:solidFill>
                      <a:srgbClr val="FBF2F3"/>
                    </a:solidFill>
                  </a:tcPr>
                </a:tc>
              </a:tr>
              <a:tr h="256032">
                <a:tc>
                  <a:txBody>
                    <a:bodyPr/>
                    <a:lstStyle/>
                    <a:p>
                      <a:r>
                        <a:rPr sz="900" b="0" i="0">
                          <a:solidFill>
                            <a:srgbClr val="5F4E53"/>
                          </a:solidFill>
                          <a:latin typeface="Montserrat"/>
                        </a:rPr>
                        <a:t>NP-complete</a:t>
                      </a:r>
                    </a:p>
                  </a:txBody>
                  <a:tcPr anchor="ctr" marL="54864" marR="54864">
                    <a:solidFill>
                      <a:srgbClr val="FDF8F8"/>
                    </a:solidFill>
                  </a:tcPr>
                </a:tc>
                <a:tc>
                  <a:txBody>
                    <a:bodyPr/>
                    <a:lstStyle/>
                    <a:p>
                      <a:r>
                        <a:rPr sz="900" b="0" i="0">
                          <a:solidFill>
                            <a:srgbClr val="5F4E53"/>
                          </a:solidFill>
                          <a:latin typeface="Montserrat"/>
                        </a:rPr>
                        <a:t>NP-complete</a:t>
                      </a:r>
                    </a:p>
                  </a:txBody>
                  <a:tcPr anchor="ctr" marL="54864" marR="54864">
                    <a:solidFill>
                      <a:srgbClr val="FDF8F8"/>
                    </a:solidFill>
                  </a:tcPr>
                </a:tc>
                <a:tc>
                  <a:txBody>
                    <a:bodyPr/>
                    <a:lstStyle/>
                    <a:p>
                      <a:r>
                        <a:rPr sz="900" b="0" i="0">
                          <a:solidFill>
                            <a:srgbClr val="5F4E53"/>
                          </a:solidFill>
                          <a:latin typeface="Montserrat"/>
                        </a:rPr>
                        <a:t>NPC in some texts</a:t>
                      </a:r>
                    </a:p>
                  </a:txBody>
                  <a:tcPr anchor="ctr" marL="54864" marR="54864">
                    <a:solidFill>
                      <a:srgbClr val="FDF8F8"/>
                    </a:solidFill>
                  </a:tcPr>
                </a:tc>
              </a:tr>
              <a:tr h="256032">
                <a:tc>
                  <a:txBody>
                    <a:bodyPr/>
                    <a:lstStyle/>
                    <a:p>
                      <a:r>
                        <a:rPr sz="900" b="0" i="0">
                          <a:solidFill>
                            <a:srgbClr val="5F4E53"/>
                          </a:solidFill>
                          <a:latin typeface="Montserrat"/>
                        </a:rPr>
                        <a:t>Relativization</a:t>
                      </a:r>
                    </a:p>
                  </a:txBody>
                  <a:tcPr anchor="ctr" marL="54864" marR="54864">
                    <a:solidFill>
                      <a:srgbClr val="FBF2F3"/>
                    </a:solidFill>
                  </a:tcPr>
                </a:tc>
                <a:tc>
                  <a:txBody>
                    <a:bodyPr/>
                    <a:lstStyle/>
                    <a:p>
                      <a:r>
                        <a:rPr sz="900" b="0" i="0">
                          <a:solidFill>
                            <a:srgbClr val="5F4E53"/>
                          </a:solidFill>
                          <a:latin typeface="Montserrat"/>
                        </a:rPr>
                        <a:t>Oracle machines written P^A, NP^A for oracle A [3]</a:t>
                      </a:r>
                    </a:p>
                  </a:txBody>
                  <a:tcPr anchor="ctr" marL="54864" marR="54864">
                    <a:solidFill>
                      <a:srgbClr val="FBF2F3"/>
                    </a:solidFill>
                  </a:tcPr>
                </a:tc>
                <a:tc>
                  <a:txBody>
                    <a:bodyPr/>
                    <a:lstStyle/>
                    <a:p>
                      <a:r>
                        <a:rPr sz="900" b="0" i="0">
                          <a:solidFill>
                            <a:srgbClr val="5F4E53"/>
                          </a:solidFill>
                          <a:latin typeface="Montserrat"/>
                        </a:rPr>
                        <a:t>None named</a:t>
                      </a:r>
                    </a:p>
                  </a:txBody>
                  <a:tcPr anchor="ctr" marL="54864" marR="54864">
                    <a:solidFill>
                      <a:srgbClr val="FBF2F3"/>
                    </a:solidFill>
                  </a:tcPr>
                </a:tc>
              </a:tr>
              <a:tr h="256032">
                <a:tc>
                  <a:txBody>
                    <a:bodyPr/>
                    <a:lstStyle/>
                    <a:p>
                      <a:r>
                        <a:rPr sz="900" b="0" i="0">
                          <a:solidFill>
                            <a:srgbClr val="5F4E53"/>
                          </a:solidFill>
                          <a:latin typeface="Montserrat"/>
                        </a:rPr>
                        <a:t>Algebrization</a:t>
                      </a:r>
                    </a:p>
                  </a:txBody>
                  <a:tcPr anchor="ctr" marL="54864" marR="54864">
                    <a:solidFill>
                      <a:srgbClr val="FDF8F8"/>
                    </a:solidFill>
                  </a:tcPr>
                </a:tc>
                <a:tc>
                  <a:txBody>
                    <a:bodyPr/>
                    <a:lstStyle/>
                    <a:p>
                      <a:r>
                        <a:rPr sz="900" b="0" i="0">
                          <a:solidFill>
                            <a:srgbClr val="5F4E53"/>
                          </a:solidFill>
                          <a:latin typeface="Montserrat"/>
                        </a:rPr>
                        <a:t>algebrize</a:t>
                      </a:r>
                    </a:p>
                  </a:txBody>
                  <a:tcPr anchor="ctr" marL="54864" marR="54864">
                    <a:solidFill>
                      <a:srgbClr val="FDF8F8"/>
                    </a:solidFill>
                  </a:tcPr>
                </a:tc>
                <a:tc>
                  <a:txBody>
                    <a:bodyPr/>
                    <a:lstStyle/>
                    <a:p>
                      <a:r>
                        <a:rPr sz="900" b="0" i="0">
                          <a:solidFill>
                            <a:srgbClr val="5F4E53"/>
                          </a:solidFill>
                          <a:latin typeface="Montserrat"/>
                        </a:rPr>
                        <a:t>'Algebraic relativization'. Aaronson and Wigderson use both for the same notion.</a:t>
                      </a:r>
                    </a:p>
                  </a:txBody>
                  <a:tcPr anchor="ctr" marL="54864" marR="54864">
                    <a:solidFill>
                      <a:srgbClr val="FDF8F8"/>
                    </a:solidFill>
                  </a:tcPr>
                </a:tc>
              </a:tr>
              <a:tr h="256032">
                <a:tc>
                  <a:txBody>
                    <a:bodyPr/>
                    <a:lstStyle/>
                    <a:p>
                      <a:r>
                        <a:rPr sz="900" b="0" i="0">
                          <a:solidFill>
                            <a:srgbClr val="5F4E53"/>
                          </a:solidFill>
                          <a:latin typeface="Montserrat"/>
                        </a:rPr>
                        <a:t>P/poly</a:t>
                      </a:r>
                    </a:p>
                  </a:txBody>
                  <a:tcPr anchor="ctr" marL="54864" marR="54864">
                    <a:solidFill>
                      <a:srgbClr val="FBF2F3"/>
                    </a:solidFill>
                  </a:tcPr>
                </a:tc>
                <a:tc>
                  <a:txBody>
                    <a:bodyPr/>
                    <a:lstStyle/>
                    <a:p>
                      <a:r>
                        <a:rPr sz="900" b="0" i="0">
                          <a:solidFill>
                            <a:srgbClr val="5F4E53"/>
                          </a:solidFill>
                          <a:latin typeface="Montserrat"/>
                        </a:rPr>
                        <a:t>P/poly</a:t>
                      </a:r>
                    </a:p>
                  </a:txBody>
                  <a:tcPr anchor="ctr" marL="54864" marR="54864">
                    <a:solidFill>
                      <a:srgbClr val="FBF2F3"/>
                    </a:solidFill>
                  </a:tcPr>
                </a:tc>
                <a:tc>
                  <a:txBody>
                    <a:bodyPr/>
                    <a:lstStyle/>
                    <a:p>
                      <a:r>
                        <a:rPr sz="900" b="0" i="0">
                          <a:solidFill>
                            <a:srgbClr val="5F4E53"/>
                          </a:solidFill>
                          <a:latin typeface="Montserrat"/>
                        </a:rPr>
                        <a:t>None named</a:t>
                      </a:r>
                    </a:p>
                  </a:txBody>
                  <a:tcPr anchor="ctr" marL="54864" marR="54864">
                    <a:solidFill>
                      <a:srgbClr val="FBF2F3"/>
                    </a:solidFill>
                  </a:tcPr>
                </a:tc>
              </a:tr>
            </a:tbl>
          </a:graphicData>
        </a:graphic>
      </p:graphicFrame>
      <p:sp>
        <p:nvSpPr>
          <p:cNvPr id="11" name="TextBox 10"/>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Verbatim, brief section 6.3: 'Negation is written != throughout, matching the plain-text rendering in which the sources were retrieved. Your course will almost certainly write it with a struck equals sign.'</a:t>
            </a:r>
          </a:p>
          <a:p>
            <a:pPr>
              <a:spcAft>
                <a:spcPts val="100"/>
              </a:spcAft>
            </a:pPr>
            <a:r>
              <a:rPr sz="800" b="0" i="0">
                <a:solidFill>
                  <a:srgbClr val="B29AA0"/>
                </a:solidFill>
                <a:latin typeface="Montserrat"/>
              </a:rPr>
              <a:t>Verbatim, brief section 6.3: 'Class names are written in plain capitals (P, NP, PSPACE, NEXP, P/poly) because the retrieved sources render them variously in bold, sans-serif and TeX markup with no substantive difference.'</a:t>
            </a:r>
          </a:p>
          <a:p>
            <a:pPr>
              <a:spcAft>
                <a:spcPts val="100"/>
              </a:spcAft>
            </a:pPr>
            <a:r>
              <a:rPr sz="800" b="0" i="0">
                <a:solidFill>
                  <a:srgbClr val="B29AA0"/>
                </a:solidFill>
                <a:latin typeface="Montserrat"/>
              </a:rPr>
              <a:t>The third column is 'alternative named in the brief', not 'alternatives that exist'. A cell reading 'none named' records that the brief named none; it is not a claim that no other convention is in use.</a:t>
            </a:r>
          </a:p>
          <a:p>
            <a:pPr>
              <a:spcAft>
                <a:spcPts val="100"/>
              </a:spcAft>
            </a:pPr>
            <a:r>
              <a:rPr sz="800" b="0" i="0">
                <a:solidFill>
                  <a:srgbClr val="B29AA0"/>
                </a:solidFill>
                <a:latin typeface="Montserrat"/>
              </a:rPr>
              <a:t>Gap: the brief names no alternative convention for the definition of NP, and none for the reduction symbol. Those two cells are left as 'none named in the brief' rather than filled from anywhere else.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THE NP-COMPLETENESS MACHINERY: THREE TERMS</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NP-completeness is the mechanism that makes the single question P versus NP decide the fate of thousands of separate problems at once.</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7</a:t>
            </a:r>
          </a:p>
        </p:txBody>
      </p:sp>
      <p:graphicFrame>
        <p:nvGraphicFramePr>
          <p:cNvPr id="10" name="Table 9"/>
          <p:cNvGraphicFramePr>
            <a:graphicFrameLocks noGrp="1"/>
          </p:cNvGraphicFramePr>
          <p:nvPr/>
        </p:nvGraphicFramePr>
        <p:xfrm>
          <a:off x="530352" y="1572768"/>
          <a:ext cx="11130990" cy="1024128"/>
        </p:xfrm>
        <a:graphic>
          <a:graphicData uri="http://schemas.openxmlformats.org/drawingml/2006/table">
            <a:tbl>
              <a:tblPr firstRow="1" bandRow="1">
                <a:tableStyleId>{5C22544A-7EE6-4342-B048-85BDC9FD1C3A}</a:tableStyleId>
              </a:tblPr>
              <a:tblGrid>
                <a:gridCol w="2448818"/>
                <a:gridCol w="5120255"/>
                <a:gridCol w="3561917"/>
              </a:tblGrid>
              <a:tr h="256032">
                <a:tc>
                  <a:txBody>
                    <a:bodyPr/>
                    <a:lstStyle/>
                    <a:p>
                      <a:r>
                        <a:rPr sz="900" b="1" i="0">
                          <a:solidFill>
                            <a:srgbClr val="FFFFFF"/>
                          </a:solidFill>
                          <a:latin typeface="Montserrat"/>
                        </a:rPr>
                        <a:t>Term</a:t>
                      </a:r>
                    </a:p>
                  </a:txBody>
                  <a:tcPr anchor="ctr" marL="54864" marR="54864">
                    <a:solidFill>
                      <a:srgbClr val="9E6474"/>
                    </a:solidFill>
                  </a:tcPr>
                </a:tc>
                <a:tc>
                  <a:txBody>
                    <a:bodyPr/>
                    <a:lstStyle/>
                    <a:p>
                      <a:r>
                        <a:rPr sz="900" b="1" i="0">
                          <a:solidFill>
                            <a:srgbClr val="FFFFFF"/>
                          </a:solidFill>
                          <a:latin typeface="Montserrat"/>
                        </a:rPr>
                        <a:t>Statement (brief, section 2, verbatim)</a:t>
                      </a:r>
                    </a:p>
                  </a:txBody>
                  <a:tcPr anchor="ctr" marL="54864" marR="54864">
                    <a:solidFill>
                      <a:srgbClr val="9E6474"/>
                    </a:solidFill>
                  </a:tcPr>
                </a:tc>
                <a:tc>
                  <a:txBody>
                    <a:bodyPr/>
                    <a:lstStyle/>
                    <a:p>
                      <a:r>
                        <a:rPr sz="900" b="1" i="0">
                          <a:solidFill>
                            <a:srgbClr val="FFFFFF"/>
                          </a:solidFill>
                          <a:latin typeface="Montserrat"/>
                        </a:rPr>
                        <a:t>Why it matters</a:t>
                      </a:r>
                    </a:p>
                  </a:txBody>
                  <a:tcPr anchor="ctr" marL="54864" marR="54864">
                    <a:solidFill>
                      <a:srgbClr val="9E6474"/>
                    </a:solidFill>
                  </a:tcPr>
                </a:tc>
              </a:tr>
              <a:tr h="256032">
                <a:tc>
                  <a:txBody>
                    <a:bodyPr/>
                    <a:lstStyle/>
                    <a:p>
                      <a:r>
                        <a:rPr sz="900" b="0" i="0">
                          <a:solidFill>
                            <a:srgbClr val="5F4E53"/>
                          </a:solidFill>
                          <a:latin typeface="Montserrat"/>
                        </a:rPr>
                        <a:t>Polynomial-time reduction A &lt;=p B</a:t>
                      </a:r>
                    </a:p>
                  </a:txBody>
                  <a:tcPr anchor="ctr" marL="54864" marR="54864">
                    <a:solidFill>
                      <a:srgbClr val="FDF8F8"/>
                    </a:solidFill>
                  </a:tcPr>
                </a:tc>
                <a:tc>
                  <a:txBody>
                    <a:bodyPr/>
                    <a:lstStyle/>
                    <a:p>
                      <a:r>
                        <a:rPr sz="900" b="0" i="0">
                          <a:solidFill>
                            <a:srgbClr val="5F4E53"/>
                          </a:solidFill>
                          <a:latin typeface="Montserrat"/>
                        </a:rPr>
                        <a:t>'A function, computable in polynomial time, mapping every instance of A to an instance of B with the same yes/no answer; if it exists, a fast algorithm for B yields a fast algorithm for A [4].'</a:t>
                      </a:r>
                    </a:p>
                  </a:txBody>
                  <a:tcPr anchor="ctr" marL="54864" marR="54864">
                    <a:solidFill>
                      <a:srgbClr val="FDF8F8"/>
                    </a:solidFill>
                  </a:tcPr>
                </a:tc>
                <a:tc>
                  <a:txBody>
                    <a:bodyPr/>
                    <a:lstStyle/>
                    <a:p>
                      <a:r>
                        <a:rPr sz="900" b="0" i="0">
                          <a:solidFill>
                            <a:srgbClr val="5F4E53"/>
                          </a:solidFill>
                          <a:latin typeface="Montserrat"/>
                        </a:rPr>
                        <a:t>'Because reductions compose, once SAT was known to be NP-hard later researchers only needed to reduce from an already-proven NP-complete problem rather than from all of NP directly [4].'</a:t>
                      </a:r>
                    </a:p>
                  </a:txBody>
                  <a:tcPr anchor="ctr" marL="54864" marR="54864">
                    <a:solidFill>
                      <a:srgbClr val="FDF8F8"/>
                    </a:solidFill>
                  </a:tcPr>
                </a:tc>
              </a:tr>
              <a:tr h="256032">
                <a:tc>
                  <a:txBody>
                    <a:bodyPr/>
                    <a:lstStyle/>
                    <a:p>
                      <a:r>
                        <a:rPr sz="900" b="0" i="0">
                          <a:solidFill>
                            <a:srgbClr val="5F4E53"/>
                          </a:solidFill>
                          <a:latin typeface="Montserrat"/>
                        </a:rPr>
                        <a:t>NP-hard</a:t>
                      </a:r>
                    </a:p>
                  </a:txBody>
                  <a:tcPr anchor="ctr" marL="54864" marR="54864">
                    <a:solidFill>
                      <a:srgbClr val="FBF2F3"/>
                    </a:solidFill>
                  </a:tcPr>
                </a:tc>
                <a:tc>
                  <a:txBody>
                    <a:bodyPr/>
                    <a:lstStyle/>
                    <a:p>
                      <a:r>
                        <a:rPr sz="900" b="0" i="0">
                          <a:solidFill>
                            <a:srgbClr val="5F4E53"/>
                          </a:solidFill>
                          <a:latin typeface="Montserrat"/>
                        </a:rPr>
                        <a:t>'Every other problem in NP reduces to it in polynomial time [4].'</a:t>
                      </a:r>
                    </a:p>
                  </a:txBody>
                  <a:tcPr anchor="ctr" marL="54864" marR="54864">
                    <a:solidFill>
                      <a:srgbClr val="FBF2F3"/>
                    </a:solidFill>
                  </a:tcPr>
                </a:tc>
                <a:tc>
                  <a:txBody>
                    <a:bodyPr/>
                    <a:lstStyle/>
                    <a:p>
                      <a:r>
                        <a:rPr sz="900" b="0" i="0">
                          <a:solidFill>
                            <a:srgbClr val="5F4E53"/>
                          </a:solidFill>
                          <a:latin typeface="Montserrat"/>
                        </a:rPr>
                        <a:t>Take this exactly as written. The brief offers no wider formulation and gives no example of an NP-hard problem outside NP.</a:t>
                      </a:r>
                    </a:p>
                  </a:txBody>
                  <a:tcPr anchor="ctr" marL="54864" marR="54864">
                    <a:solidFill>
                      <a:srgbClr val="FBF2F3"/>
                    </a:solidFill>
                  </a:tcPr>
                </a:tc>
              </a:tr>
              <a:tr h="256032">
                <a:tc>
                  <a:txBody>
                    <a:bodyPr/>
                    <a:lstStyle/>
                    <a:p>
                      <a:r>
                        <a:rPr sz="900" b="0" i="0">
                          <a:solidFill>
                            <a:srgbClr val="5F4E53"/>
                          </a:solidFill>
                          <a:latin typeface="Montserrat"/>
                        </a:rPr>
                        <a:t>NP-complete</a:t>
                      </a:r>
                    </a:p>
                  </a:txBody>
                  <a:tcPr anchor="ctr" marL="54864" marR="54864">
                    <a:solidFill>
                      <a:srgbClr val="FDF8F8"/>
                    </a:solidFill>
                  </a:tcPr>
                </a:tc>
                <a:tc>
                  <a:txBody>
                    <a:bodyPr/>
                    <a:lstStyle/>
                    <a:p>
                      <a:r>
                        <a:rPr sz="900" b="0" i="0">
                          <a:solidFill>
                            <a:srgbClr val="5F4E53"/>
                          </a:solidFill>
                          <a:latin typeface="Montserrat"/>
                        </a:rPr>
                        <a:t>'In NP and NP-hard simultaneously; the hardest problems inside NP, in the precise sense that a polynomial-time algorithm for any one of them yields polynomial-time algorithms for all problems in NP [4][1].'</a:t>
                      </a:r>
                    </a:p>
                  </a:txBody>
                  <a:tcPr anchor="ctr" marL="54864" marR="54864">
                    <a:solidFill>
                      <a:srgbClr val="FDF8F8"/>
                    </a:solidFill>
                  </a:tcPr>
                </a:tc>
                <a:tc>
                  <a:txBody>
                    <a:bodyPr/>
                    <a:lstStyle/>
                    <a:p>
                      <a:r>
                        <a:rPr sz="900" b="0" i="0">
                          <a:solidFill>
                            <a:srgbClr val="5F4E53"/>
                          </a:solidFill>
                          <a:latin typeface="Montserrat"/>
                        </a:rPr>
                        <a:t>'The mechanism that makes the single question P versus NP decide the fate of thousands of separate problems at once, and it is why a proof for any one NP-complete problem settles everything.'</a:t>
                      </a:r>
                    </a:p>
                  </a:txBody>
                  <a:tcPr anchor="ctr" marL="54864" marR="54864">
                    <a:solidFill>
                      <a:srgbClr val="FDF8F8"/>
                    </a:solidFill>
                  </a:tcPr>
                </a:tc>
              </a:tr>
            </a:tbl>
          </a:graphicData>
        </a:graphic>
      </p:graphicFrame>
      <p:sp>
        <p:nvSpPr>
          <p:cNvPr id="11" name="TextBox 10"/>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Row 1 is titled 'polynomial-time reduction', not 'many-one reduction': the brief never uses the term 'many-one', and never uses 'Karp reduction' either.</a:t>
            </a:r>
          </a:p>
          <a:p>
            <a:pPr>
              <a:spcAft>
                <a:spcPts val="100"/>
              </a:spcAft>
            </a:pPr>
            <a:r>
              <a:rPr sz="800" b="0" i="0">
                <a:solidFill>
                  <a:srgbClr val="B29AA0"/>
                </a:solidFill>
                <a:latin typeface="Montserrat"/>
              </a:rPr>
              <a:t>Gap: the brief gives no formal definition of the reduction. No function f, no 'x is in A if and only if f(x) is in B', no totality condition, and no statement that the polynomial bound is on f's own running time. Do not present row 1 as a formal definition.</a:t>
            </a:r>
          </a:p>
          <a:p>
            <a:pPr>
              <a:spcAft>
                <a:spcPts val="100"/>
              </a:spcAft>
            </a:pPr>
            <a:r>
              <a:rPr sz="800" b="0" i="0">
                <a:solidFill>
                  <a:srgbClr val="B29AA0"/>
                </a:solidFill>
                <a:latin typeface="Montserrat"/>
              </a:rPr>
              <a:t>Gap: the brief never states the NP-hard versus NP-complete difference as a sentence. It is only implicit in 'In NP and NP-hard simultaneously'. The brief never says that NP-hard problems need not lie in NP, so this deck does not assert a difference the brief does not spell out.</a:t>
            </a:r>
          </a:p>
          <a:p>
            <a:pPr>
              <a:spcAft>
                <a:spcPts val="100"/>
              </a:spcAft>
            </a:pPr>
            <a:r>
              <a:rPr sz="800" b="0" i="0">
                <a:solidFill>
                  <a:srgbClr val="B29AA0"/>
                </a:solidFill>
                <a:latin typeface="Montserrat"/>
              </a:rPr>
              <a:t>[4] is IEEE TechNav, an editorially curated reference page, not peer-reviewed. The brief uses it only for definitional material corroborated by [1] and [3], never as sole authority for a technical claim.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COOK-LEVIN, SAT AND 3-SAT</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The brief gives the result, the people and the dates, and never defines SAT.</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8</a:t>
            </a:r>
          </a:p>
        </p:txBody>
      </p:sp>
      <p:sp>
        <p:nvSpPr>
          <p:cNvPr id="10" name="Rectangle 9"/>
          <p:cNvSpPr/>
          <p:nvPr/>
        </p:nvSpPr>
        <p:spPr>
          <a:xfrm>
            <a:off x="530352" y="1554480"/>
            <a:ext cx="3466490"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627632"/>
            <a:ext cx="3466490"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WHAT THE BRIEF STATES</a:t>
            </a:r>
          </a:p>
        </p:txBody>
      </p:sp>
      <p:sp>
        <p:nvSpPr>
          <p:cNvPr id="12" name="TextBox 11"/>
          <p:cNvSpPr txBox="1"/>
          <p:nvPr/>
        </p:nvSpPr>
        <p:spPr>
          <a:xfrm>
            <a:off x="530352" y="1901952"/>
            <a:ext cx="3466490" cy="3493008"/>
          </a:xfrm>
          <a:prstGeom prst="rect">
            <a:avLst/>
          </a:prstGeom>
          <a:noFill/>
        </p:spPr>
        <p:txBody>
          <a:bodyPr wrap="square" lIns="0" rIns="0" tIns="0" bIns="0">
            <a:spAutoFit/>
          </a:bodyPr>
          <a:lstStyle/>
          <a:p>
            <a:pPr>
              <a:spcAft>
                <a:spcPts val="400"/>
              </a:spcAft>
            </a:pPr>
            <a:r>
              <a:rPr sz="950" b="0" i="0">
                <a:solidFill>
                  <a:srgbClr val="5F4E53"/>
                </a:solidFill>
                <a:latin typeface="Montserrat"/>
              </a:rPr>
              <a:t>▪  'The concept originates with Stephen Cook's 1971 proof and Leonid Levin's independent 1973 result, together known as the Cook-Levin theorem; they showed the Boolean satisfiability problem (SAT) is NP-complete [4].'</a:t>
            </a:r>
          </a:p>
          <a:p>
            <a:pPr>
              <a:spcAft>
                <a:spcPts val="400"/>
              </a:spcAft>
            </a:pPr>
            <a:r>
              <a:rPr sz="950" b="0" i="0">
                <a:solidFill>
                  <a:srgbClr val="5F4E53"/>
                </a:solidFill>
                <a:latin typeface="Montserrat"/>
              </a:rPr>
              <a:t>▪  Cook, Levin and Richard Karp developed the initial theory of NP-completeness, work that generated multiple ACM Turing Awards [1].</a:t>
            </a:r>
          </a:p>
          <a:p>
            <a:pPr>
              <a:spcAft>
                <a:spcPts val="400"/>
              </a:spcAft>
            </a:pPr>
            <a:r>
              <a:rPr sz="950" b="0" i="0">
                <a:solidFill>
                  <a:srgbClr val="5F4E53"/>
                </a:solidFill>
                <a:latin typeface="Montserrat"/>
              </a:rPr>
              <a:t>▪  Karp's 1972 paper demonstrated 21 NP-complete problems, and the list now runs to thousands [4].</a:t>
            </a:r>
          </a:p>
          <a:p>
            <a:pPr>
              <a:spcAft>
                <a:spcPts val="400"/>
              </a:spcAft>
            </a:pPr>
            <a:r>
              <a:rPr sz="950" b="0" i="0">
                <a:solidFill>
                  <a:srgbClr val="5F4E53"/>
                </a:solidFill>
                <a:latin typeface="Montserrat"/>
              </a:rPr>
              <a:t>▪  Gap: no formal theorem statement, with hypotheses and conclusion, appears anywhere in the brief.</a:t>
            </a:r>
          </a:p>
        </p:txBody>
      </p:sp>
      <p:sp>
        <p:nvSpPr>
          <p:cNvPr id="13" name="TextBox 12"/>
          <p:cNvSpPr txBox="1"/>
          <p:nvPr/>
        </p:nvSpPr>
        <p:spPr>
          <a:xfrm>
            <a:off x="4362602" y="1554480"/>
            <a:ext cx="3466490"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WHEN COOK PRESENTED IT: TWO DATES, NOT BLENDED</a:t>
            </a:r>
          </a:p>
        </p:txBody>
      </p:sp>
      <p:graphicFrame>
        <p:nvGraphicFramePr>
          <p:cNvPr id="14" name="Table 13"/>
          <p:cNvGraphicFramePr>
            <a:graphicFrameLocks noGrp="1"/>
          </p:cNvGraphicFramePr>
          <p:nvPr/>
        </p:nvGraphicFramePr>
        <p:xfrm>
          <a:off x="4362602" y="1828800"/>
          <a:ext cx="3466490" cy="1024128"/>
        </p:xfrm>
        <a:graphic>
          <a:graphicData uri="http://schemas.openxmlformats.org/drawingml/2006/table">
            <a:tbl>
              <a:tblPr firstRow="1" bandRow="1">
                <a:tableStyleId>{5C22544A-7EE6-4342-B048-85BDC9FD1C3A}</a:tableStyleId>
              </a:tblPr>
              <a:tblGrid>
                <a:gridCol w="1733245"/>
                <a:gridCol w="1733245"/>
              </a:tblGrid>
              <a:tr h="256032">
                <a:tc>
                  <a:txBody>
                    <a:bodyPr/>
                    <a:lstStyle/>
                    <a:p>
                      <a:r>
                        <a:rPr sz="900" b="1" i="0">
                          <a:solidFill>
                            <a:srgbClr val="FFFFFF"/>
                          </a:solidFill>
                          <a:latin typeface="Montserrat"/>
                        </a:rPr>
                        <a:t>Source</a:t>
                      </a:r>
                    </a:p>
                  </a:txBody>
                  <a:tcPr anchor="ctr" marL="54864" marR="54864">
                    <a:solidFill>
                      <a:srgbClr val="9E6474"/>
                    </a:solidFill>
                  </a:tcPr>
                </a:tc>
                <a:tc>
                  <a:txBody>
                    <a:bodyPr/>
                    <a:lstStyle/>
                    <a:p>
                      <a:r>
                        <a:rPr sz="900" b="1" i="0">
                          <a:solidFill>
                            <a:srgbClr val="FFFFFF"/>
                          </a:solidFill>
                          <a:latin typeface="Montserrat"/>
                        </a:rPr>
                        <a:t>Date as that source gives it</a:t>
                      </a:r>
                    </a:p>
                  </a:txBody>
                  <a:tcPr anchor="ctr" marL="54864" marR="54864">
                    <a:solidFill>
                      <a:srgbClr val="9E6474"/>
                    </a:solidFill>
                  </a:tcPr>
                </a:tc>
              </a:tr>
              <a:tr h="256032">
                <a:tc>
                  <a:txBody>
                    <a:bodyPr/>
                    <a:lstStyle/>
                    <a:p>
                      <a:r>
                        <a:rPr sz="900" b="0" i="0">
                          <a:solidFill>
                            <a:srgbClr val="5F4E53"/>
                          </a:solidFill>
                          <a:latin typeface="Montserrat"/>
                        </a:rPr>
                        <a:t>[1] Fortnow, CACM 2009</a:t>
                      </a:r>
                    </a:p>
                  </a:txBody>
                  <a:tcPr anchor="ctr" marL="54864" marR="54864">
                    <a:solidFill>
                      <a:srgbClr val="FDF8F8"/>
                    </a:solidFill>
                  </a:tcPr>
                </a:tc>
                <a:tc>
                  <a:txBody>
                    <a:bodyPr/>
                    <a:lstStyle/>
                    <a:p>
                      <a:r>
                        <a:rPr sz="900" b="0" i="0">
                          <a:solidFill>
                            <a:srgbClr val="5F4E53"/>
                          </a:solidFill>
                          <a:latin typeface="Montserrat"/>
                        </a:rPr>
                        <a:t>'early May 1971', Shaker Heights, Ohio</a:t>
                      </a:r>
                    </a:p>
                  </a:txBody>
                  <a:tcPr anchor="ctr" marL="54864" marR="54864">
                    <a:solidFill>
                      <a:srgbClr val="FDF8F8"/>
                    </a:solidFill>
                  </a:tcPr>
                </a:tc>
              </a:tr>
              <a:tr h="256032">
                <a:tc>
                  <a:txBody>
                    <a:bodyPr/>
                    <a:lstStyle/>
                    <a:p>
                      <a:r>
                        <a:rPr sz="900" b="0" i="0">
                          <a:solidFill>
                            <a:srgbClr val="5F4E53"/>
                          </a:solidFill>
                          <a:latin typeface="Montserrat"/>
                        </a:rPr>
                        <a:t>[2] Fortnow's 50-year retrospective</a:t>
                      </a:r>
                    </a:p>
                  </a:txBody>
                  <a:tcPr anchor="ctr" marL="54864" marR="54864">
                    <a:solidFill>
                      <a:srgbClr val="FBF2F3"/>
                    </a:solidFill>
                  </a:tcPr>
                </a:tc>
                <a:tc>
                  <a:txBody>
                    <a:bodyPr/>
                    <a:lstStyle/>
                    <a:p>
                      <a:r>
                        <a:rPr sz="900" b="0" i="0">
                          <a:solidFill>
                            <a:srgbClr val="5F4E53"/>
                          </a:solidFill>
                          <a:latin typeface="Montserrat"/>
                        </a:rPr>
                        <a:t>'May 4, 1971'</a:t>
                      </a:r>
                    </a:p>
                  </a:txBody>
                  <a:tcPr anchor="ctr" marL="54864" marR="54864">
                    <a:solidFill>
                      <a:srgbClr val="FBF2F3"/>
                    </a:solidFill>
                  </a:tcPr>
                </a:tc>
              </a:tr>
              <a:tr h="256032">
                <a:tc>
                  <a:txBody>
                    <a:bodyPr/>
                    <a:lstStyle/>
                    <a:p>
                      <a:r>
                        <a:rPr sz="900" b="0" i="0">
                          <a:solidFill>
                            <a:srgbClr val="5F4E53"/>
                          </a:solidFill>
                          <a:latin typeface="Montserrat"/>
                        </a:rPr>
                        <a:t>The paper</a:t>
                      </a:r>
                    </a:p>
                  </a:txBody>
                  <a:tcPr anchor="ctr" marL="54864" marR="54864">
                    <a:solidFill>
                      <a:srgbClr val="FDF8F8"/>
                    </a:solidFill>
                  </a:tcPr>
                </a:tc>
                <a:tc>
                  <a:txBody>
                    <a:bodyPr/>
                    <a:lstStyle/>
                    <a:p>
                      <a:r>
                        <a:rPr sz="900" b="0" i="0">
                          <a:solidFill>
                            <a:srgbClr val="5F4E53"/>
                          </a:solidFill>
                          <a:latin typeface="Montserrat"/>
                        </a:rPr>
                        <a:t>'The Complexity of Theorem-Proving Procedures'</a:t>
                      </a:r>
                    </a:p>
                  </a:txBody>
                  <a:tcPr anchor="ctr" marL="54864" marR="54864">
                    <a:solidFill>
                      <a:srgbClr val="FDF8F8"/>
                    </a:solidFill>
                  </a:tcPr>
                </a:tc>
              </a:tr>
            </a:tbl>
          </a:graphicData>
        </a:graphic>
      </p:graphicFrame>
      <p:sp>
        <p:nvSpPr>
          <p:cNvPr id="15" name="Rectangle 14"/>
          <p:cNvSpPr/>
          <p:nvPr/>
        </p:nvSpPr>
        <p:spPr>
          <a:xfrm>
            <a:off x="8194852" y="1554480"/>
            <a:ext cx="3466490"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4852" y="1627632"/>
            <a:ext cx="3466490"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SHAPE OF THE PROOF</a:t>
            </a:r>
          </a:p>
        </p:txBody>
      </p:sp>
      <p:sp>
        <p:nvSpPr>
          <p:cNvPr id="17" name="TextBox 16"/>
          <p:cNvSpPr txBox="1"/>
          <p:nvPr/>
        </p:nvSpPr>
        <p:spPr>
          <a:xfrm>
            <a:off x="8194852" y="1901952"/>
            <a:ext cx="3466490" cy="3493008"/>
          </a:xfrm>
          <a:prstGeom prst="rect">
            <a:avLst/>
          </a:prstGeom>
          <a:noFill/>
        </p:spPr>
        <p:txBody>
          <a:bodyPr wrap="square" lIns="0" rIns="0" tIns="0" bIns="0">
            <a:spAutoFit/>
          </a:bodyPr>
          <a:lstStyle/>
          <a:p>
            <a:pPr>
              <a:spcAft>
                <a:spcPts val="400"/>
              </a:spcAft>
            </a:pPr>
            <a:r>
              <a:rPr sz="950" b="0" i="0">
                <a:solidFill>
                  <a:srgbClr val="5F4E53"/>
                </a:solidFill>
                <a:latin typeface="Montserrat"/>
              </a:rPr>
              <a:t>▪  IEEE's summary reports that in Boaz Barak's Introduction to Theoretical Computer Science, the Cook-Levin proof establishes 3-SAT as NP-hard by showing every NP problem reduces to it, with the reduction built as a chain through NANDSAT and 3NAND [4].</a:t>
            </a:r>
          </a:p>
          <a:p>
            <a:pPr>
              <a:spcAft>
                <a:spcPts val="400"/>
              </a:spcAft>
            </a:pPr>
            <a:r>
              <a:rPr sz="950" b="0" i="0">
                <a:solidFill>
                  <a:srgbClr val="5F4E53"/>
                </a:solidFill>
                <a:latin typeface="Montserrat"/>
              </a:rPr>
              <a:t>▪  'That is one textbook's packaging of the proof, not the only one; the classical presentation encodes an accepting computation of a nondeterministic machine as a Boolean formula.'</a:t>
            </a:r>
          </a:p>
        </p:txBody>
      </p:sp>
      <p:sp>
        <p:nvSpPr>
          <p:cNvPr id="18" name="TextBox 17"/>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REQUIRED ACTION, brief section 3.2, verbatim: 'Check which presentation of the Cook-Levin reduction your own course uses, the tableau or formula encoding of a nondeterministic computation or the NANDSAT chain, because the two look very different on an exam even though they prove the same theorem.'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103120"/>
            <a:ext cx="2743200" cy="457200"/>
          </a:xfrm>
          <a:prstGeom prst="rect">
            <a:avLst/>
          </a:prstGeom>
          <a:noFill/>
        </p:spPr>
        <p:txBody>
          <a:bodyPr wrap="square" lIns="0" rIns="0" tIns="0" bIns="0">
            <a:spAutoFit/>
          </a:bodyPr>
          <a:lstStyle/>
          <a:p>
            <a:pPr>
              <a:spcAft>
                <a:spcPts val="0"/>
              </a:spcAft>
            </a:pPr>
            <a:r>
              <a:rPr sz="2200" b="1" i="0">
                <a:solidFill>
                  <a:srgbClr val="D98F98"/>
                </a:solidFill>
                <a:latin typeface="Montserrat"/>
              </a:rPr>
              <a:t>2</a:t>
            </a:r>
          </a:p>
        </p:txBody>
      </p:sp>
      <p:sp>
        <p:nvSpPr>
          <p:cNvPr id="4" name="TextBox 3"/>
          <p:cNvSpPr txBox="1"/>
          <p:nvPr/>
        </p:nvSpPr>
        <p:spPr>
          <a:xfrm>
            <a:off x="530352" y="2697480"/>
            <a:ext cx="8229600" cy="320040"/>
          </a:xfrm>
          <a:prstGeom prst="rect">
            <a:avLst/>
          </a:prstGeom>
          <a:noFill/>
        </p:spPr>
        <p:txBody>
          <a:bodyPr wrap="square" lIns="0" rIns="0" tIns="0" bIns="0">
            <a:spAutoFit/>
          </a:bodyPr>
          <a:lstStyle/>
          <a:p>
            <a:pPr>
              <a:spcAft>
                <a:spcPts val="0"/>
              </a:spcAft>
            </a:pPr>
            <a:r>
              <a:rPr sz="1000" b="1" i="0">
                <a:solidFill>
                  <a:srgbClr val="D98F98"/>
                </a:solidFill>
                <a:latin typeface="Montserrat"/>
              </a:rPr>
              <a:t>SECTION 2</a:t>
            </a:r>
          </a:p>
        </p:txBody>
      </p:sp>
      <p:sp>
        <p:nvSpPr>
          <p:cNvPr id="5" name="TextBox 4"/>
          <p:cNvSpPr txBox="1"/>
          <p:nvPr/>
        </p:nvSpPr>
        <p:spPr>
          <a:xfrm>
            <a:off x="530352" y="3063240"/>
            <a:ext cx="8686800" cy="822960"/>
          </a:xfrm>
          <a:prstGeom prst="rect">
            <a:avLst/>
          </a:prstGeom>
          <a:noFill/>
        </p:spPr>
        <p:txBody>
          <a:bodyPr wrap="square" lIns="0" rIns="0" tIns="0" bIns="0">
            <a:spAutoFit/>
          </a:bodyPr>
          <a:lstStyle/>
          <a:p>
            <a:pPr>
              <a:spcAft>
                <a:spcPts val="0"/>
              </a:spcAft>
            </a:pPr>
            <a:r>
              <a:rPr sz="3400" b="1" i="0">
                <a:solidFill>
                  <a:srgbClr val="FFFFFF"/>
                </a:solidFill>
                <a:latin typeface="Montserrat"/>
              </a:rPr>
              <a:t>WHY IT HAS RESISTED PROOF</a:t>
            </a:r>
          </a:p>
        </p:txBody>
      </p:sp>
      <p:sp>
        <p:nvSpPr>
          <p:cNvPr id="6" name="TextBox 5"/>
          <p:cNvSpPr txBox="1"/>
          <p:nvPr/>
        </p:nvSpPr>
        <p:spPr>
          <a:xfrm>
            <a:off x="530352" y="4069080"/>
            <a:ext cx="7772400" cy="457200"/>
          </a:xfrm>
          <a:prstGeom prst="rect">
            <a:avLst/>
          </a:prstGeom>
          <a:noFill/>
        </p:spPr>
        <p:txBody>
          <a:bodyPr wrap="square" lIns="0" rIns="0" tIns="0" bIns="0">
            <a:spAutoFit/>
          </a:bodyPr>
          <a:lstStyle/>
          <a:p>
            <a:pPr>
              <a:spcAft>
                <a:spcPts val="0"/>
              </a:spcAft>
            </a:pPr>
            <a:r>
              <a:rPr sz="1200" b="0" i="0">
                <a:solidFill>
                  <a:srgbClr val="FFFFFF"/>
                </a:solidFill>
                <a:latin typeface="Montserrat"/>
              </a:rPr>
              <a:t>The problem is open in the strong sense: the three general techniques available are each shown to be insufficient.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THE THREE BARRIERS</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A correct proof must use a technique that is currently unknown, not a sharper version of an existing one.</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10</a:t>
            </a:r>
          </a:p>
        </p:txBody>
      </p:sp>
      <p:graphicFrame>
        <p:nvGraphicFramePr>
          <p:cNvPr id="10" name="Table 9"/>
          <p:cNvGraphicFramePr>
            <a:graphicFrameLocks noGrp="1"/>
          </p:cNvGraphicFramePr>
          <p:nvPr/>
        </p:nvGraphicFramePr>
        <p:xfrm>
          <a:off x="530352" y="1572768"/>
          <a:ext cx="11130990" cy="1024128"/>
        </p:xfrm>
        <a:graphic>
          <a:graphicData uri="http://schemas.openxmlformats.org/drawingml/2006/table">
            <a:tbl>
              <a:tblPr firstRow="1" bandRow="1">
                <a:tableStyleId>{5C22544A-7EE6-4342-B048-85BDC9FD1C3A}</a:tableStyleId>
              </a:tblPr>
              <a:tblGrid>
                <a:gridCol w="1669648"/>
                <a:gridCol w="2114888"/>
                <a:gridCol w="2448818"/>
                <a:gridCol w="4897636"/>
              </a:tblGrid>
              <a:tr h="256032">
                <a:tc>
                  <a:txBody>
                    <a:bodyPr/>
                    <a:lstStyle/>
                    <a:p>
                      <a:r>
                        <a:rPr sz="900" b="1" i="0">
                          <a:solidFill>
                            <a:srgbClr val="FFFFFF"/>
                          </a:solidFill>
                          <a:latin typeface="Montserrat"/>
                        </a:rPr>
                        <a:t>Barrier</a:t>
                      </a:r>
                    </a:p>
                  </a:txBody>
                  <a:tcPr anchor="ctr" marL="54864" marR="54864">
                    <a:solidFill>
                      <a:srgbClr val="9E6474"/>
                    </a:solidFill>
                  </a:tcPr>
                </a:tc>
                <a:tc>
                  <a:txBody>
                    <a:bodyPr/>
                    <a:lstStyle/>
                    <a:p>
                      <a:r>
                        <a:rPr sz="900" b="1" i="0">
                          <a:solidFill>
                            <a:srgbClr val="FFFFFF"/>
                          </a:solidFill>
                          <a:latin typeface="Montserrat"/>
                        </a:rPr>
                        <a:t>Technique it blocks</a:t>
                      </a:r>
                    </a:p>
                  </a:txBody>
                  <a:tcPr anchor="ctr" marL="54864" marR="54864">
                    <a:solidFill>
                      <a:srgbClr val="9E6474"/>
                    </a:solidFill>
                  </a:tcPr>
                </a:tc>
                <a:tc>
                  <a:txBody>
                    <a:bodyPr/>
                    <a:lstStyle/>
                    <a:p>
                      <a:r>
                        <a:rPr sz="900" b="1" i="0">
                          <a:solidFill>
                            <a:srgbClr val="FFFFFF"/>
                          </a:solidFill>
                          <a:latin typeface="Montserrat"/>
                        </a:rPr>
                        <a:t>Named result</a:t>
                      </a:r>
                    </a:p>
                  </a:txBody>
                  <a:tcPr anchor="ctr" marL="54864" marR="54864">
                    <a:solidFill>
                      <a:srgbClr val="9E6474"/>
                    </a:solidFill>
                  </a:tcPr>
                </a:tc>
                <a:tc>
                  <a:txBody>
                    <a:bodyPr/>
                    <a:lstStyle/>
                    <a:p>
                      <a:r>
                        <a:rPr sz="900" b="1" i="0">
                          <a:solidFill>
                            <a:srgbClr val="FFFFFF"/>
                          </a:solidFill>
                          <a:latin typeface="Montserrat"/>
                        </a:rPr>
                        <a:t>What the brief says it establishes</a:t>
                      </a:r>
                    </a:p>
                  </a:txBody>
                  <a:tcPr anchor="ctr" marL="54864" marR="54864">
                    <a:solidFill>
                      <a:srgbClr val="9E6474"/>
                    </a:solidFill>
                  </a:tcPr>
                </a:tc>
              </a:tr>
              <a:tr h="256032">
                <a:tc>
                  <a:txBody>
                    <a:bodyPr/>
                    <a:lstStyle/>
                    <a:p>
                      <a:r>
                        <a:rPr sz="900" b="0" i="0">
                          <a:solidFill>
                            <a:srgbClr val="5F4E53"/>
                          </a:solidFill>
                          <a:latin typeface="Montserrat"/>
                        </a:rPr>
                        <a:t>Relativization</a:t>
                      </a:r>
                    </a:p>
                  </a:txBody>
                  <a:tcPr anchor="ctr" marL="54864" marR="54864">
                    <a:solidFill>
                      <a:srgbClr val="FDF8F8"/>
                    </a:solidFill>
                  </a:tcPr>
                </a:tc>
                <a:tc>
                  <a:txBody>
                    <a:bodyPr/>
                    <a:lstStyle/>
                    <a:p>
                      <a:r>
                        <a:rPr sz="900" b="0" i="0">
                          <a:solidFill>
                            <a:srgbClr val="5F4E53"/>
                          </a:solidFill>
                          <a:latin typeface="Montserrat"/>
                        </a:rPr>
                        <a:t>Diagonalization</a:t>
                      </a:r>
                    </a:p>
                  </a:txBody>
                  <a:tcPr anchor="ctr" marL="54864" marR="54864">
                    <a:solidFill>
                      <a:srgbClr val="FDF8F8"/>
                    </a:solidFill>
                  </a:tcPr>
                </a:tc>
                <a:tc>
                  <a:txBody>
                    <a:bodyPr/>
                    <a:lstStyle/>
                    <a:p>
                      <a:r>
                        <a:rPr sz="900" b="0" i="0">
                          <a:solidFill>
                            <a:srgbClr val="5F4E53"/>
                          </a:solidFill>
                          <a:latin typeface="Montserrat"/>
                        </a:rPr>
                        <a:t>Baker, Gill and Solovay, 1975</a:t>
                      </a:r>
                    </a:p>
                  </a:txBody>
                  <a:tcPr anchor="ctr" marL="54864" marR="54864">
                    <a:solidFill>
                      <a:srgbClr val="FDF8F8"/>
                    </a:solidFill>
                  </a:tcPr>
                </a:tc>
                <a:tc>
                  <a:txBody>
                    <a:bodyPr/>
                    <a:lstStyle/>
                    <a:p>
                      <a:r>
                        <a:rPr sz="900" b="0" i="0">
                          <a:solidFill>
                            <a:srgbClr val="5F4E53"/>
                          </a:solidFill>
                          <a:latin typeface="Montserrat"/>
                        </a:rPr>
                        <a:t>No relativizing proof can settle the question in either direction [1].</a:t>
                      </a:r>
                    </a:p>
                  </a:txBody>
                  <a:tcPr anchor="ctr" marL="54864" marR="54864">
                    <a:solidFill>
                      <a:srgbClr val="FDF8F8"/>
                    </a:solidFill>
                  </a:tcPr>
                </a:tc>
              </a:tr>
              <a:tr h="256032">
                <a:tc>
                  <a:txBody>
                    <a:bodyPr/>
                    <a:lstStyle/>
                    <a:p>
                      <a:r>
                        <a:rPr sz="900" b="0" i="0">
                          <a:solidFill>
                            <a:srgbClr val="5F4E53"/>
                          </a:solidFill>
                          <a:latin typeface="Montserrat"/>
                        </a:rPr>
                        <a:t>Natural proofs</a:t>
                      </a:r>
                    </a:p>
                  </a:txBody>
                  <a:tcPr anchor="ctr" marL="54864" marR="54864">
                    <a:solidFill>
                      <a:srgbClr val="FBF2F3"/>
                    </a:solidFill>
                  </a:tcPr>
                </a:tc>
                <a:tc>
                  <a:txBody>
                    <a:bodyPr/>
                    <a:lstStyle/>
                    <a:p>
                      <a:r>
                        <a:rPr sz="900" b="0" i="0">
                          <a:solidFill>
                            <a:srgbClr val="5F4E53"/>
                          </a:solidFill>
                          <a:latin typeface="Montserrat"/>
                        </a:rPr>
                        <a:t>Combinatorial circuit lower bounds</a:t>
                      </a:r>
                    </a:p>
                  </a:txBody>
                  <a:tcPr anchor="ctr" marL="54864" marR="54864">
                    <a:solidFill>
                      <a:srgbClr val="FBF2F3"/>
                    </a:solidFill>
                  </a:tcPr>
                </a:tc>
                <a:tc>
                  <a:txBody>
                    <a:bodyPr/>
                    <a:lstStyle/>
                    <a:p>
                      <a:r>
                        <a:rPr sz="900" b="0" i="0">
                          <a:solidFill>
                            <a:srgbClr val="5F4E53"/>
                          </a:solidFill>
                          <a:latin typeface="Montserrat"/>
                        </a:rPr>
                        <a:t>Razborov and Rudich. The brief gives no year.</a:t>
                      </a:r>
                    </a:p>
                  </a:txBody>
                  <a:tcPr anchor="ctr" marL="54864" marR="54864">
                    <a:solidFill>
                      <a:srgbClr val="FBF2F3"/>
                    </a:solidFill>
                  </a:tcPr>
                </a:tc>
                <a:tc>
                  <a:txBody>
                    <a:bodyPr/>
                    <a:lstStyle/>
                    <a:p>
                      <a:r>
                        <a:rPr sz="900" b="0" i="0">
                          <a:solidFill>
                            <a:srgbClr val="5F4E53"/>
                          </a:solidFill>
                          <a:latin typeface="Montserrat"/>
                        </a:rPr>
                        <a:t>'Razborov and Rudich then developed the notion of natural proofs and gave evidence that the field's circuit-complexity techniques cannot be pushed much further' [1]. Evidence, not a theorem.</a:t>
                      </a:r>
                    </a:p>
                  </a:txBody>
                  <a:tcPr anchor="ctr" marL="54864" marR="54864">
                    <a:solidFill>
                      <a:srgbClr val="FBF2F3"/>
                    </a:solidFill>
                  </a:tcPr>
                </a:tc>
              </a:tr>
              <a:tr h="256032">
                <a:tc>
                  <a:txBody>
                    <a:bodyPr/>
                    <a:lstStyle/>
                    <a:p>
                      <a:r>
                        <a:rPr sz="900" b="0" i="0">
                          <a:solidFill>
                            <a:srgbClr val="5F4E53"/>
                          </a:solidFill>
                          <a:latin typeface="Montserrat"/>
                        </a:rPr>
                        <a:t>Algebrization</a:t>
                      </a:r>
                    </a:p>
                  </a:txBody>
                  <a:tcPr anchor="ctr" marL="54864" marR="54864">
                    <a:solidFill>
                      <a:srgbClr val="FDF8F8"/>
                    </a:solidFill>
                  </a:tcPr>
                </a:tc>
                <a:tc>
                  <a:txBody>
                    <a:bodyPr/>
                    <a:lstStyle/>
                    <a:p>
                      <a:r>
                        <a:rPr sz="900" b="0" i="0">
                          <a:solidFill>
                            <a:srgbClr val="5F4E53"/>
                          </a:solidFill>
                          <a:latin typeface="Montserrat"/>
                        </a:rPr>
                        <a:t>Arithmetization</a:t>
                      </a:r>
                    </a:p>
                  </a:txBody>
                  <a:tcPr anchor="ctr" marL="54864" marR="54864">
                    <a:solidFill>
                      <a:srgbClr val="FDF8F8"/>
                    </a:solidFill>
                  </a:tcPr>
                </a:tc>
                <a:tc>
                  <a:txBody>
                    <a:bodyPr/>
                    <a:lstStyle/>
                    <a:p>
                      <a:r>
                        <a:rPr sz="900" b="0" i="0">
                          <a:solidFill>
                            <a:srgbClr val="5F4E53"/>
                          </a:solidFill>
                          <a:latin typeface="Montserrat"/>
                        </a:rPr>
                        <a:t>Aaronson and Wigderson, ACM TOCT 2009</a:t>
                      </a:r>
                    </a:p>
                  </a:txBody>
                  <a:tcPr anchor="ctr" marL="54864" marR="54864">
                    <a:solidFill>
                      <a:srgbClr val="FDF8F8"/>
                    </a:solidFill>
                  </a:tcPr>
                </a:tc>
                <a:tc>
                  <a:txBody>
                    <a:bodyPr/>
                    <a:lstStyle/>
                    <a:p>
                      <a:r>
                        <a:rPr sz="900" b="0" i="0">
                          <a:solidFill>
                            <a:srgbClr val="5F4E53"/>
                          </a:solidFill>
                          <a:latin typeface="Montserrat"/>
                        </a:rPr>
                        <a:t>'Almost all the major open problems, including P versus NP, P versus RP, and NEXP versus P/poly, will require non-algebrizing techniques' [3].</a:t>
                      </a:r>
                    </a:p>
                  </a:txBody>
                  <a:tcPr anchor="ctr" marL="54864" marR="54864">
                    <a:solidFill>
                      <a:srgbClr val="FDF8F8"/>
                    </a:solidFill>
                  </a:tcPr>
                </a:tc>
              </a:tr>
            </a:tbl>
          </a:graphicData>
        </a:graphic>
      </p:graphicFrame>
      <p:sp>
        <p:nvSpPr>
          <p:cNvPr id="11" name="TextBox 10"/>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Any diagonalization proof would relativize, which is why the 1975 result rules the technique out.</a:t>
            </a:r>
          </a:p>
          <a:p>
            <a:pPr>
              <a:spcAft>
                <a:spcPts val="100"/>
              </a:spcAft>
            </a:pPr>
            <a:r>
              <a:rPr sz="800" b="0" i="0">
                <a:solidFill>
                  <a:srgbClr val="B29AA0"/>
                </a:solidFill>
                <a:latin typeface="Montserrat"/>
              </a:rPr>
              <a:t>The circuit route, brief section 3.3: 'It suffices to show some NP-complete problem cannot be solved by relatively small circuits of AND, OR and NOT gates, with gate count bounded by a fixed polynomial in the input size [1].'</a:t>
            </a:r>
          </a:p>
          <a:p>
            <a:pPr>
              <a:spcAft>
                <a:spcPts val="100"/>
              </a:spcAft>
            </a:pPr>
            <a:r>
              <a:rPr sz="800" b="0" i="0">
                <a:solidFill>
                  <a:srgbClr val="B29AA0"/>
                </a:solidFill>
                <a:latin typeface="Montserrat"/>
              </a:rPr>
              <a:t>Furst, Saxe and Sipser showed in 1984 that small circuits cannot compute parity at fixed depth. Full citation as the brief gives it: Furst, M., Saxe, J. B., and Sipser, M., 'Parity, circuits, and the polynomial time hierarchy', Mathematical Systems Theory 17 (1984), 13 to 27 [1][3].</a:t>
            </a:r>
          </a:p>
          <a:p>
            <a:pPr>
              <a:spcAft>
                <a:spcPts val="100"/>
              </a:spcAft>
            </a:pPr>
            <a:r>
              <a:rPr sz="800" b="0" i="0">
                <a:solidFill>
                  <a:srgbClr val="B29AA0"/>
                </a:solidFill>
                <a:latin typeface="Montserrat"/>
              </a:rPr>
              <a:t>Razborov showed in 1985 that Clique has no small monotone circuits, that is, circuits with AND and OR gates but no NOT gates. Extending that result to general circuits would prove P != NP, but Razborov later showed his own techniques fail miserably once NOT gates are allowed [1].</a:t>
            </a:r>
          </a:p>
          <a:p>
            <a:pPr>
              <a:spcAft>
                <a:spcPts val="100"/>
              </a:spcAft>
            </a:pPr>
            <a:r>
              <a:rPr sz="800" b="0" i="0">
                <a:solidFill>
                  <a:srgbClr val="B29AA0"/>
                </a:solidFill>
                <a:latin typeface="Montserrat"/>
              </a:rPr>
              <a:t>Fortnow adds, writing in 2009, that no significantly new circuit lower bounds had appeared in the preceding twenty years [1].</a:t>
            </a:r>
          </a:p>
          <a:p>
            <a:pPr>
              <a:spcAft>
                <a:spcPts val="100"/>
              </a:spcAft>
            </a:pPr>
            <a:r>
              <a:rPr sz="800" b="0" i="0">
                <a:solidFill>
                  <a:srgbClr val="B29AA0"/>
                </a:solidFill>
                <a:latin typeface="Montserrat"/>
              </a:rPr>
              <a:t>Wording discipline: the brief says Razborov and Rudich 'gave evidence', not 'proved'. Do not upgrade it to a theorem in an exam answer.</a:t>
            </a:r>
          </a:p>
          <a:p>
            <a:pPr>
              <a:spcAft>
                <a:spcPts val="100"/>
              </a:spcAft>
            </a:pPr>
            <a:r>
              <a:rPr sz="800" b="0" i="0">
                <a:solidFill>
                  <a:srgbClr val="B29AA0"/>
                </a:solidFill>
                <a:latin typeface="Montserrat"/>
              </a:rPr>
              <a:t>Gap: the brief gives no publication year and no full citation for Razborov and Rudich, and no precise statement of the barrier: no largeness condition, no constructivity condition, no pseudorandom-generator hypothesis.</a:t>
            </a:r>
          </a:p>
          <a:p>
            <a:pPr>
              <a:spcAft>
                <a:spcPts val="100"/>
              </a:spcAft>
            </a:pPr>
            <a:r>
              <a:rPr sz="800" b="0" i="0">
                <a:solidFill>
                  <a:srgbClr val="B29AA0"/>
                </a:solidFill>
                <a:latin typeface="Montserrat"/>
              </a:rPr>
              <a:t>Algebrization, brief section 2, verbatim: 'Relativizing a class inclusion while giving the simulating machine access not only to an oracle A but also to a low-degree extension of A over a finite field or ring [3].' The starting observation was that any proof of P != NP must overcome relativization and natural proofs, yet the previous decade produced circuit lower bounds, for example that PP does not have linear-size circuits, that overcome both simultaneously [3].</a:t>
            </a:r>
          </a:p>
          <a:p>
            <a:pPr>
              <a:spcAft>
                <a:spcPts val="100"/>
              </a:spcAft>
            </a:pPr>
            <a:r>
              <a:rPr sz="800" b="0" i="0">
                <a:solidFill>
                  <a:srgbClr val="B29AA0"/>
                </a:solidFill>
                <a:latin typeface="Montserrat"/>
              </a:rPr>
              <a:t>Aaronson and Wigderson show all known nonrelativizing results based on arithmetization do algebrize, including IP = PSPACE, MIP = NEXP and MAEXP not-subset-of P/poly, and that algebrization explains exactly why progress stopped where it did, for example why superlinear circuit lower bounds exist for PromiseMA but not for NP [3]. These renderings are the brief's summary of the paper's abstract, not a verbatim quotation of it.</a:t>
            </a:r>
          </a:p>
          <a:p>
            <a:pPr>
              <a:spcAft>
                <a:spcPts val="100"/>
              </a:spcAft>
            </a:pPr>
            <a:r>
              <a:rPr sz="800" b="0" i="0">
                <a:solidFill>
                  <a:srgbClr val="B29AA0"/>
                </a:solidFill>
                <a:latin typeface="Montserrat"/>
              </a:rPr>
              <a:t>All three are results about proof methods, not evidence about the answer. That is the next slide.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A BARRIER IS NOT EVIDENCE</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'We cannot prove it with these tools' is a theorem. 'P is probably not NP' is a belief. Running them together is the error the brief's section 4 corrects.</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11</a:t>
            </a:r>
          </a:p>
        </p:txBody>
      </p:sp>
      <p:sp>
        <p:nvSpPr>
          <p:cNvPr id="10" name="Rectangle 9"/>
          <p:cNvSpPr/>
          <p:nvPr/>
        </p:nvSpPr>
        <p:spPr>
          <a:xfrm>
            <a:off x="530352" y="1554480"/>
            <a:ext cx="5336895"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627632"/>
            <a:ext cx="5336895"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WHAT IS ESTABLISHED</a:t>
            </a:r>
          </a:p>
        </p:txBody>
      </p:sp>
      <p:sp>
        <p:nvSpPr>
          <p:cNvPr id="12" name="TextBox 11"/>
          <p:cNvSpPr txBox="1"/>
          <p:nvPr/>
        </p:nvSpPr>
        <p:spPr>
          <a:xfrm>
            <a:off x="530352" y="1901952"/>
            <a:ext cx="5336895" cy="3310128"/>
          </a:xfrm>
          <a:prstGeom prst="rect">
            <a:avLst/>
          </a:prstGeom>
          <a:noFill/>
        </p:spPr>
        <p:txBody>
          <a:bodyPr wrap="square" lIns="0" rIns="0" tIns="0" bIns="0">
            <a:spAutoFit/>
          </a:bodyPr>
          <a:lstStyle/>
          <a:p>
            <a:pPr>
              <a:spcAft>
                <a:spcPts val="400"/>
              </a:spcAft>
            </a:pPr>
            <a:r>
              <a:rPr sz="950" b="0" i="0">
                <a:solidFill>
                  <a:srgbClr val="5F4E53"/>
                </a:solidFill>
                <a:latin typeface="Montserrat"/>
              </a:rPr>
              <a:t>Each barrier is a result about what proof methods can do.</a:t>
            </a:r>
          </a:p>
          <a:p>
            <a:pPr>
              <a:spcAft>
                <a:spcPts val="400"/>
              </a:spcAft>
            </a:pPr>
            <a:r>
              <a:rPr sz="950" b="0" i="0">
                <a:solidFill>
                  <a:srgbClr val="5F4E53"/>
                </a:solidFill>
                <a:latin typeface="Montserrat"/>
              </a:rPr>
              <a:t>No relativizing proof settles P versus NP in either direction (Baker, Gill and Solovay, 1975) [1].</a:t>
            </a:r>
          </a:p>
          <a:p>
            <a:pPr>
              <a:spcAft>
                <a:spcPts val="400"/>
              </a:spcAft>
            </a:pPr>
            <a:r>
              <a:rPr sz="950" b="0" i="0">
                <a:solidFill>
                  <a:srgbClr val="5F4E53"/>
                </a:solidFill>
                <a:latin typeface="Montserrat"/>
              </a:rPr>
              <a:t>Razborov and Rudich gave evidence that circuit-complexity techniques cannot be pushed much further [1]. The brief says evidence, not theorem.</a:t>
            </a:r>
          </a:p>
          <a:p>
            <a:pPr>
              <a:spcAft>
                <a:spcPts val="400"/>
              </a:spcAft>
            </a:pPr>
            <a:r>
              <a:rPr sz="950" b="0" i="0">
                <a:solidFill>
                  <a:srgbClr val="5F4E53"/>
                </a:solidFill>
                <a:latin typeface="Montserrat"/>
              </a:rPr>
              <a:t>Aaronson and Wigderson show major open problems need non-algebrizing techniques [3].</a:t>
            </a:r>
          </a:p>
          <a:p>
            <a:pPr>
              <a:spcAft>
                <a:spcPts val="400"/>
              </a:spcAft>
            </a:pPr>
            <a:r>
              <a:rPr sz="950" b="0" i="0">
                <a:solidFill>
                  <a:srgbClr val="5F4E53"/>
                </a:solidFill>
                <a:latin typeface="Montserrat"/>
              </a:rPr>
              <a:t>Verbatim, brief section 4: 'The barriers are theorems about proof techniques, not about the answer; Baker, Gill and Solovay rules out relativizing proofs in either direction [1], and Aaronson and Wigderson show major open problems need non-algebrizing techniques without implying which way they resolve [3].'</a:t>
            </a:r>
          </a:p>
        </p:txBody>
      </p:sp>
      <p:sp>
        <p:nvSpPr>
          <p:cNvPr id="13" name="Rectangle 12"/>
          <p:cNvSpPr/>
          <p:nvPr/>
        </p:nvSpPr>
        <p:spPr>
          <a:xfrm>
            <a:off x="6324447" y="1554480"/>
            <a:ext cx="5336895"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447" y="1627632"/>
            <a:ext cx="5336895"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WHAT IS BELIEVED</a:t>
            </a:r>
          </a:p>
        </p:txBody>
      </p:sp>
      <p:sp>
        <p:nvSpPr>
          <p:cNvPr id="15" name="TextBox 14"/>
          <p:cNvSpPr txBox="1"/>
          <p:nvPr/>
        </p:nvSpPr>
        <p:spPr>
          <a:xfrm>
            <a:off x="6324447" y="1901952"/>
            <a:ext cx="5336895" cy="3310128"/>
          </a:xfrm>
          <a:prstGeom prst="rect">
            <a:avLst/>
          </a:prstGeom>
          <a:noFill/>
        </p:spPr>
        <p:txBody>
          <a:bodyPr wrap="square" lIns="0" rIns="0" tIns="0" bIns="0">
            <a:spAutoFit/>
          </a:bodyPr>
          <a:lstStyle/>
          <a:p>
            <a:pPr>
              <a:spcAft>
                <a:spcPts val="400"/>
              </a:spcAft>
            </a:pPr>
            <a:r>
              <a:rPr sz="950" b="0" i="0">
                <a:solidFill>
                  <a:srgbClr val="5F4E53"/>
                </a:solidFill>
                <a:latin typeface="Montserrat"/>
              </a:rPr>
              <a:t>That P != NP is a belief held in the field. The brief names the belief and never states what it rests on.</a:t>
            </a:r>
          </a:p>
          <a:p>
            <a:pPr>
              <a:spcAft>
                <a:spcPts val="400"/>
              </a:spcAft>
            </a:pPr>
            <a:r>
              <a:rPr sz="950" b="0" i="0">
                <a:solidFill>
                  <a:srgbClr val="5F4E53"/>
                </a:solidFill>
                <a:latin typeface="Montserrat"/>
              </a:rPr>
              <a:t>[not found in the sources: what the field actually cites as grounds for believing P != NP. The brief contains no appeal to decades of failed algorithms, no survey of researchers and no heuristic argument.]</a:t>
            </a:r>
          </a:p>
          <a:p>
            <a:pPr>
              <a:spcAft>
                <a:spcPts val="400"/>
              </a:spcAft>
            </a:pPr>
            <a:r>
              <a:rPr sz="950" b="0" i="0">
                <a:solidFill>
                  <a:srgbClr val="5F4E53"/>
                </a:solidFill>
                <a:latin typeface="Montserrat"/>
              </a:rPr>
              <a:t>The barriers may not be used to fill that gap. Substituting them is precisely the error corrected on the left.</a:t>
            </a:r>
          </a:p>
        </p:txBody>
      </p:sp>
      <p:sp>
        <p:nvSpPr>
          <p:cNvPr id="16" name="TextBox 15"/>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Why the confusion arises, brief section 4, verbatim: "'We cannot prove X' and 'X is false' are easy to conflate when the belief that P != NP is already stated in the same paragraph." A fourth resistance mechanism, formal independence from the standard axioms, is on slide 19 as an open question rather than as content.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103120"/>
            <a:ext cx="2743200" cy="457200"/>
          </a:xfrm>
          <a:prstGeom prst="rect">
            <a:avLst/>
          </a:prstGeom>
          <a:noFill/>
        </p:spPr>
        <p:txBody>
          <a:bodyPr wrap="square" lIns="0" rIns="0" tIns="0" bIns="0">
            <a:spAutoFit/>
          </a:bodyPr>
          <a:lstStyle/>
          <a:p>
            <a:pPr>
              <a:spcAft>
                <a:spcPts val="0"/>
              </a:spcAft>
            </a:pPr>
            <a:r>
              <a:rPr sz="2200" b="1" i="0">
                <a:solidFill>
                  <a:srgbClr val="D98F98"/>
                </a:solidFill>
                <a:latin typeface="Montserrat"/>
              </a:rPr>
              <a:t>3</a:t>
            </a:r>
          </a:p>
        </p:txBody>
      </p:sp>
      <p:sp>
        <p:nvSpPr>
          <p:cNvPr id="4" name="TextBox 3"/>
          <p:cNvSpPr txBox="1"/>
          <p:nvPr/>
        </p:nvSpPr>
        <p:spPr>
          <a:xfrm>
            <a:off x="530352" y="2697480"/>
            <a:ext cx="8229600" cy="320040"/>
          </a:xfrm>
          <a:prstGeom prst="rect">
            <a:avLst/>
          </a:prstGeom>
          <a:noFill/>
        </p:spPr>
        <p:txBody>
          <a:bodyPr wrap="square" lIns="0" rIns="0" tIns="0" bIns="0">
            <a:spAutoFit/>
          </a:bodyPr>
          <a:lstStyle/>
          <a:p>
            <a:pPr>
              <a:spcAft>
                <a:spcPts val="0"/>
              </a:spcAft>
            </a:pPr>
            <a:r>
              <a:rPr sz="1000" b="1" i="0">
                <a:solidFill>
                  <a:srgbClr val="D98F98"/>
                </a:solidFill>
                <a:latin typeface="Montserrat"/>
              </a:rPr>
              <a:t>SECTION 3</a:t>
            </a:r>
          </a:p>
        </p:txBody>
      </p:sp>
      <p:sp>
        <p:nvSpPr>
          <p:cNvPr id="5" name="TextBox 4"/>
          <p:cNvSpPr txBox="1"/>
          <p:nvPr/>
        </p:nvSpPr>
        <p:spPr>
          <a:xfrm>
            <a:off x="530352" y="3063240"/>
            <a:ext cx="8686800" cy="822960"/>
          </a:xfrm>
          <a:prstGeom prst="rect">
            <a:avLst/>
          </a:prstGeom>
          <a:noFill/>
        </p:spPr>
        <p:txBody>
          <a:bodyPr wrap="square" lIns="0" rIns="0" tIns="0" bIns="0">
            <a:spAutoFit/>
          </a:bodyPr>
          <a:lstStyle/>
          <a:p>
            <a:pPr>
              <a:spcAft>
                <a:spcPts val="0"/>
              </a:spcAft>
            </a:pPr>
            <a:r>
              <a:rPr sz="3400" b="1" i="0">
                <a:solidFill>
                  <a:srgbClr val="FFFFFF"/>
                </a:solidFill>
                <a:latin typeface="Montserrat"/>
              </a:rPr>
              <a:t>CONSEQUENCES AND CURRENT STATUS</a:t>
            </a:r>
          </a:p>
        </p:txBody>
      </p:sp>
      <p:sp>
        <p:nvSpPr>
          <p:cNvPr id="6" name="TextBox 5"/>
          <p:cNvSpPr txBox="1"/>
          <p:nvPr/>
        </p:nvSpPr>
        <p:spPr>
          <a:xfrm>
            <a:off x="530352" y="4069080"/>
            <a:ext cx="7772400" cy="457200"/>
          </a:xfrm>
          <a:prstGeom prst="rect">
            <a:avLst/>
          </a:prstGeom>
          <a:noFill/>
        </p:spPr>
        <p:txBody>
          <a:bodyPr wrap="square" lIns="0" rIns="0" tIns="0" bIns="0">
            <a:spAutoFit/>
          </a:bodyPr>
          <a:lstStyle/>
          <a:p>
            <a:pPr>
              <a:spcAft>
                <a:spcPts val="0"/>
              </a:spcAft>
            </a:pPr>
            <a:r>
              <a:rPr sz="1200" b="0" i="0">
                <a:solidFill>
                  <a:srgbClr val="FFFFFF"/>
                </a:solidFill>
                <a:latin typeface="Montserrat"/>
              </a:rPr>
              <a:t>What either answer would change, what has changed in practice without it, and how the field describes the state of research.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IF P = NP, AND IF P != NP</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P != NP is necessary but not sufficient for modern cryptography. The brief calls this the single most load-bearing point for a student on this topic.</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13</a:t>
            </a:r>
          </a:p>
        </p:txBody>
      </p:sp>
      <p:sp>
        <p:nvSpPr>
          <p:cNvPr id="10" name="Rectangle 9"/>
          <p:cNvSpPr/>
          <p:nvPr/>
        </p:nvSpPr>
        <p:spPr>
          <a:xfrm>
            <a:off x="530352" y="1554480"/>
            <a:ext cx="5336895"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627632"/>
            <a:ext cx="5336895"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IF P = NP</a:t>
            </a:r>
          </a:p>
        </p:txBody>
      </p:sp>
      <p:sp>
        <p:nvSpPr>
          <p:cNvPr id="12" name="TextBox 11"/>
          <p:cNvSpPr txBox="1"/>
          <p:nvPr/>
        </p:nvSpPr>
        <p:spPr>
          <a:xfrm>
            <a:off x="530352" y="1901952"/>
            <a:ext cx="5336895" cy="3310128"/>
          </a:xfrm>
          <a:prstGeom prst="rect">
            <a:avLst/>
          </a:prstGeom>
          <a:noFill/>
        </p:spPr>
        <p:txBody>
          <a:bodyPr wrap="square" lIns="0" rIns="0" tIns="0" bIns="0">
            <a:spAutoFit/>
          </a:bodyPr>
          <a:lstStyle/>
          <a:p>
            <a:pPr>
              <a:spcAft>
                <a:spcPts val="400"/>
              </a:spcAft>
            </a:pPr>
            <a:r>
              <a:rPr sz="950" b="0" i="0">
                <a:solidFill>
                  <a:srgbClr val="5F4E53"/>
                </a:solidFill>
                <a:latin typeface="Montserrat"/>
              </a:rPr>
              <a:t>'Public-key cryptography becomes impossible [1].' Fortnow argues the positive consequences dominate:</a:t>
            </a:r>
          </a:p>
          <a:p>
            <a:pPr>
              <a:spcAft>
                <a:spcPts val="400"/>
              </a:spcAft>
            </a:pPr>
            <a:r>
              <a:rPr sz="950" b="0" i="0">
                <a:solidFill>
                  <a:srgbClr val="5F4E53"/>
                </a:solidFill>
                <a:latin typeface="Montserrat"/>
              </a:rPr>
              <a:t>'Since NP-complete optimization problems become easy, transport, manufacturing and scheduling become far more efficient' [1].</a:t>
            </a:r>
          </a:p>
          <a:p>
            <a:pPr>
              <a:spcAft>
                <a:spcPts val="400"/>
              </a:spcAft>
            </a:pPr>
            <a:r>
              <a:rPr sz="950" b="0" i="0">
                <a:solidFill>
                  <a:srgbClr val="5F4E53"/>
                </a:solidFill>
                <a:latin typeface="Montserrat"/>
              </a:rPr>
              <a:t>'Learning becomes easy by applying Occam's razor, finding the smallest program consistent with the data, making vision recognition, language comprehension and translation trivial' [1].</a:t>
            </a:r>
          </a:p>
          <a:p>
            <a:pPr>
              <a:spcAft>
                <a:spcPts val="400"/>
              </a:spcAft>
            </a:pPr>
            <a:r>
              <a:rPr sz="950" b="0" i="0">
                <a:solidFill>
                  <a:srgbClr val="5F4E53"/>
                </a:solidFill>
                <a:latin typeface="Montserrat"/>
              </a:rPr>
              <a:t>'Proofs of theorems with reasonable-length proofs, say under 100 pages, become findable, so a person who proves P = NP would collect not one Millennium prize but most of them' [1].</a:t>
            </a:r>
          </a:p>
          <a:p>
            <a:pPr>
              <a:spcAft>
                <a:spcPts val="400"/>
              </a:spcAft>
            </a:pPr>
            <a:r>
              <a:rPr sz="950" b="0" i="0">
                <a:solidFill>
                  <a:srgbClr val="5F4E53"/>
                </a:solidFill>
                <a:latin typeface="Montserrat"/>
              </a:rPr>
              <a:t>Fortnow's caveat, verbatim, and students routinely drop it: 'Technically we could have P = NP, but not have practical algorithms for most NP-complete problems' [1]. A proof could be nonconstructive, or the polynomial could be enormous.</a:t>
            </a:r>
          </a:p>
        </p:txBody>
      </p:sp>
      <p:sp>
        <p:nvSpPr>
          <p:cNvPr id="13" name="Rectangle 12"/>
          <p:cNvSpPr/>
          <p:nvPr/>
        </p:nvSpPr>
        <p:spPr>
          <a:xfrm>
            <a:off x="6324447" y="1554480"/>
            <a:ext cx="5336895"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447" y="1627632"/>
            <a:ext cx="5336895"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IF P != NP</a:t>
            </a:r>
          </a:p>
        </p:txBody>
      </p:sp>
      <p:sp>
        <p:nvSpPr>
          <p:cNvPr id="15" name="TextBox 14"/>
          <p:cNvSpPr txBox="1"/>
          <p:nvPr/>
        </p:nvSpPr>
        <p:spPr>
          <a:xfrm>
            <a:off x="6324447" y="1901952"/>
            <a:ext cx="5336895" cy="3310128"/>
          </a:xfrm>
          <a:prstGeom prst="rect">
            <a:avLst/>
          </a:prstGeom>
          <a:noFill/>
        </p:spPr>
        <p:txBody>
          <a:bodyPr wrap="square" lIns="0" rIns="0" tIns="0" bIns="0">
            <a:spAutoFit/>
          </a:bodyPr>
          <a:lstStyle/>
          <a:p>
            <a:pPr>
              <a:spcAft>
                <a:spcPts val="400"/>
              </a:spcAft>
            </a:pPr>
            <a:r>
              <a:rPr sz="950" b="0" i="0">
                <a:solidFill>
                  <a:srgbClr val="5F4E53"/>
                </a:solidFill>
                <a:latin typeface="Montserrat"/>
              </a:rPr>
              <a:t>'P != NP would leave essentially every practical security guarantee still unproved.'</a:t>
            </a:r>
          </a:p>
          <a:p>
            <a:pPr>
              <a:spcAft>
                <a:spcPts val="400"/>
              </a:spcAft>
            </a:pPr>
            <a:r>
              <a:rPr sz="950" b="0" i="0">
                <a:solidFill>
                  <a:srgbClr val="5F4E53"/>
                </a:solidFill>
                <a:latin typeface="Montserrat"/>
              </a:rPr>
              <a:t>'Assuming P != NP is not enough to get public-key protocols; instead one needs strong average-case assumptions about the difficulty of factoring or related problems' [1].</a:t>
            </a:r>
          </a:p>
          <a:p>
            <a:pPr>
              <a:spcAft>
                <a:spcPts val="400"/>
              </a:spcAft>
            </a:pPr>
            <a:r>
              <a:rPr sz="950" b="0" i="0">
                <a:solidFill>
                  <a:srgbClr val="5F4E53"/>
                </a:solidFill>
                <a:latin typeface="Montserrat"/>
              </a:rPr>
              <a:t>'Even after a separation, cryptography would require that a problem like factoring, which is not believed to be NP-complete, is hard for randomly drawn composite numbers' [1].</a:t>
            </a:r>
          </a:p>
          <a:p>
            <a:pPr>
              <a:spcAft>
                <a:spcPts val="400"/>
              </a:spcAft>
            </a:pPr>
            <a:r>
              <a:rPr sz="950" b="0" i="0">
                <a:solidFill>
                  <a:srgbClr val="5F4E53"/>
                </a:solidFill>
                <a:latin typeface="Montserrat"/>
              </a:rPr>
              <a:t>The implication chain runs one way only: 'public-key cryptosystems imply the existence of one-way functions, which in turn imply P != NP', and the retrieved MIT course notes state plainly that these are the only implications known, asking 'Where does the truth lie?' [9].</a:t>
            </a:r>
          </a:p>
          <a:p>
            <a:pPr>
              <a:spcAft>
                <a:spcPts val="400"/>
              </a:spcAft>
            </a:pPr>
            <a:r>
              <a:rPr sz="950" b="0" i="0">
                <a:solidFill>
                  <a:srgbClr val="5F4E53"/>
                </a:solidFill>
                <a:latin typeface="Montserrat"/>
              </a:rPr>
              <a:t>Whether worst-case to average-case reductions of the kind known for lattice problems and the permanent also hold for NP-complete sets is called out as an important open problem [1].</a:t>
            </a:r>
          </a:p>
        </p:txBody>
      </p:sp>
      <p:sp>
        <p:nvSpPr>
          <p:cNvPr id="16" name="TextBox 15"/>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Source [9] is preview only, never read in full. The brief says the one sentence recovered from that preview is load-bearing in its section 3.4 and should be checked against the full notes, so treat the one-way-function implication chain as the weakest-sourced claim on this slide.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IMPAGLIAZZO'S FIVE WORLDS</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Five worlds are named; two are characterised. The middle three are not filled in on this deck, because the brief does not fill them in.</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14</a:t>
            </a:r>
          </a:p>
        </p:txBody>
      </p:sp>
      <p:graphicFrame>
        <p:nvGraphicFramePr>
          <p:cNvPr id="10" name="Table 9"/>
          <p:cNvGraphicFramePr>
            <a:graphicFrameLocks noGrp="1"/>
          </p:cNvGraphicFramePr>
          <p:nvPr/>
        </p:nvGraphicFramePr>
        <p:xfrm>
          <a:off x="530352" y="1572768"/>
          <a:ext cx="11130990" cy="1536192"/>
        </p:xfrm>
        <a:graphic>
          <a:graphicData uri="http://schemas.openxmlformats.org/drawingml/2006/table">
            <a:tbl>
              <a:tblPr firstRow="1" bandRow="1">
                <a:tableStyleId>{5C22544A-7EE6-4342-B048-85BDC9FD1C3A}</a:tableStyleId>
              </a:tblPr>
              <a:tblGrid>
                <a:gridCol w="3116677"/>
                <a:gridCol w="8014313"/>
              </a:tblGrid>
              <a:tr h="256032">
                <a:tc>
                  <a:txBody>
                    <a:bodyPr/>
                    <a:lstStyle/>
                    <a:p>
                      <a:r>
                        <a:rPr sz="900" b="1" i="0">
                          <a:solidFill>
                            <a:srgbClr val="FFFFFF"/>
                          </a:solidFill>
                          <a:latin typeface="Montserrat"/>
                        </a:rPr>
                        <a:t>World</a:t>
                      </a:r>
                    </a:p>
                  </a:txBody>
                  <a:tcPr anchor="ctr" marL="54864" marR="54864">
                    <a:solidFill>
                      <a:srgbClr val="9E6474"/>
                    </a:solidFill>
                  </a:tcPr>
                </a:tc>
                <a:tc>
                  <a:txBody>
                    <a:bodyPr/>
                    <a:lstStyle/>
                    <a:p>
                      <a:r>
                        <a:rPr sz="900" b="1" i="0">
                          <a:solidFill>
                            <a:srgbClr val="FFFFFF"/>
                          </a:solidFill>
                          <a:latin typeface="Montserrat"/>
                        </a:rPr>
                        <a:t>What the brief says about it</a:t>
                      </a:r>
                    </a:p>
                  </a:txBody>
                  <a:tcPr anchor="ctr" marL="54864" marR="54864">
                    <a:solidFill>
                      <a:srgbClr val="9E6474"/>
                    </a:solidFill>
                  </a:tcPr>
                </a:tc>
              </a:tr>
              <a:tr h="256032">
                <a:tc>
                  <a:txBody>
                    <a:bodyPr/>
                    <a:lstStyle/>
                    <a:p>
                      <a:r>
                        <a:rPr sz="900" b="0" i="0">
                          <a:solidFill>
                            <a:srgbClr val="5F4E53"/>
                          </a:solidFill>
                          <a:latin typeface="Montserrat"/>
                        </a:rPr>
                        <a:t>Algorithmica</a:t>
                      </a:r>
                    </a:p>
                  </a:txBody>
                  <a:tcPr anchor="ctr" marL="54864" marR="54864">
                    <a:solidFill>
                      <a:srgbClr val="FDF8F8"/>
                    </a:solidFill>
                  </a:tcPr>
                </a:tc>
                <a:tc>
                  <a:txBody>
                    <a:bodyPr/>
                    <a:lstStyle/>
                    <a:p>
                      <a:r>
                        <a:rPr sz="900" b="0" i="0">
                          <a:solidFill>
                            <a:srgbClr val="5F4E53"/>
                          </a:solidFill>
                          <a:latin typeface="Montserrat"/>
                        </a:rPr>
                        <a:t>The endpoint the brief characterises: the world where P = NP [7].</a:t>
                      </a:r>
                    </a:p>
                  </a:txBody>
                  <a:tcPr anchor="ctr" marL="54864" marR="54864">
                    <a:solidFill>
                      <a:srgbClr val="FDF8F8"/>
                    </a:solidFill>
                  </a:tcPr>
                </a:tc>
              </a:tr>
              <a:tr h="256032">
                <a:tc>
                  <a:txBody>
                    <a:bodyPr/>
                    <a:lstStyle/>
                    <a:p>
                      <a:r>
                        <a:rPr sz="900" b="0" i="0">
                          <a:solidFill>
                            <a:srgbClr val="5F4E53"/>
                          </a:solidFill>
                          <a:latin typeface="Montserrat"/>
                        </a:rPr>
                        <a:t>Heuristica</a:t>
                      </a:r>
                    </a:p>
                  </a:txBody>
                  <a:tcPr anchor="ctr" marL="54864" marR="54864">
                    <a:solidFill>
                      <a:srgbClr val="FBF2F3"/>
                    </a:solidFill>
                  </a:tcPr>
                </a:tc>
                <a:tc>
                  <a:txBody>
                    <a:bodyPr/>
                    <a:lstStyle/>
                    <a:p>
                      <a:r>
                        <a:rPr sz="900" b="0" i="0">
                          <a:solidFill>
                            <a:srgbClr val="5F4E53"/>
                          </a:solidFill>
                          <a:latin typeface="Montserrat"/>
                        </a:rPr>
                        <a:t>Named only. The brief gives no characterisation of this world.</a:t>
                      </a:r>
                    </a:p>
                  </a:txBody>
                  <a:tcPr anchor="ctr" marL="54864" marR="54864">
                    <a:solidFill>
                      <a:srgbClr val="FBF2F3"/>
                    </a:solidFill>
                  </a:tcPr>
                </a:tc>
              </a:tr>
              <a:tr h="256032">
                <a:tc>
                  <a:txBody>
                    <a:bodyPr/>
                    <a:lstStyle/>
                    <a:p>
                      <a:r>
                        <a:rPr sz="900" b="0" i="0">
                          <a:solidFill>
                            <a:srgbClr val="5F4E53"/>
                          </a:solidFill>
                          <a:latin typeface="Montserrat"/>
                        </a:rPr>
                        <a:t>Pessiland</a:t>
                      </a:r>
                    </a:p>
                  </a:txBody>
                  <a:tcPr anchor="ctr" marL="54864" marR="54864">
                    <a:solidFill>
                      <a:srgbClr val="FDF8F8"/>
                    </a:solidFill>
                  </a:tcPr>
                </a:tc>
                <a:tc>
                  <a:txBody>
                    <a:bodyPr/>
                    <a:lstStyle/>
                    <a:p>
                      <a:r>
                        <a:rPr sz="900" b="0" i="0">
                          <a:solidFill>
                            <a:srgbClr val="5F4E53"/>
                          </a:solidFill>
                          <a:latin typeface="Montserrat"/>
                        </a:rPr>
                        <a:t>Named only. The brief gives no characterisation of this world.</a:t>
                      </a:r>
                    </a:p>
                  </a:txBody>
                  <a:tcPr anchor="ctr" marL="54864" marR="54864">
                    <a:solidFill>
                      <a:srgbClr val="FDF8F8"/>
                    </a:solidFill>
                  </a:tcPr>
                </a:tc>
              </a:tr>
              <a:tr h="256032">
                <a:tc>
                  <a:txBody>
                    <a:bodyPr/>
                    <a:lstStyle/>
                    <a:p>
                      <a:r>
                        <a:rPr sz="900" b="0" i="0">
                          <a:solidFill>
                            <a:srgbClr val="5F4E53"/>
                          </a:solidFill>
                          <a:latin typeface="Montserrat"/>
                        </a:rPr>
                        <a:t>Minicrypt</a:t>
                      </a:r>
                    </a:p>
                  </a:txBody>
                  <a:tcPr anchor="ctr" marL="54864" marR="54864">
                    <a:solidFill>
                      <a:srgbClr val="FBF2F3"/>
                    </a:solidFill>
                  </a:tcPr>
                </a:tc>
                <a:tc>
                  <a:txBody>
                    <a:bodyPr/>
                    <a:lstStyle/>
                    <a:p>
                      <a:r>
                        <a:rPr sz="900" b="0" i="0">
                          <a:solidFill>
                            <a:srgbClr val="5F4E53"/>
                          </a:solidFill>
                          <a:latin typeface="Montserrat"/>
                        </a:rPr>
                        <a:t>Named only. The brief gives no characterisation of this world.</a:t>
                      </a:r>
                    </a:p>
                  </a:txBody>
                  <a:tcPr anchor="ctr" marL="54864" marR="54864">
                    <a:solidFill>
                      <a:srgbClr val="FBF2F3"/>
                    </a:solidFill>
                  </a:tcPr>
                </a:tc>
              </a:tr>
              <a:tr h="256032">
                <a:tc>
                  <a:txBody>
                    <a:bodyPr/>
                    <a:lstStyle/>
                    <a:p>
                      <a:r>
                        <a:rPr sz="900" b="0" i="0">
                          <a:solidFill>
                            <a:srgbClr val="5F4E53"/>
                          </a:solidFill>
                          <a:latin typeface="Montserrat"/>
                        </a:rPr>
                        <a:t>Cryptomania</a:t>
                      </a:r>
                    </a:p>
                  </a:txBody>
                  <a:tcPr anchor="ctr" marL="54864" marR="54864">
                    <a:solidFill>
                      <a:srgbClr val="FDF8F8"/>
                    </a:solidFill>
                  </a:tcPr>
                </a:tc>
                <a:tc>
                  <a:txBody>
                    <a:bodyPr/>
                    <a:lstStyle/>
                    <a:p>
                      <a:r>
                        <a:rPr sz="900" b="0" i="0">
                          <a:solidFill>
                            <a:srgbClr val="5F4E53"/>
                          </a:solidFill>
                          <a:latin typeface="Montserrat"/>
                        </a:rPr>
                        <a:t>The other endpoint the brief characterises: the world where public-key cryptography is possible [7].</a:t>
                      </a:r>
                    </a:p>
                  </a:txBody>
                  <a:tcPr anchor="ctr" marL="54864" marR="54864">
                    <a:solidFill>
                      <a:srgbClr val="FDF8F8"/>
                    </a:solidFill>
                  </a:tcPr>
                </a:tc>
              </a:tr>
            </a:tbl>
          </a:graphicData>
        </a:graphic>
      </p:graphicFrame>
      <p:sp>
        <p:nvSpPr>
          <p:cNvPr id="11" name="TextBox 10"/>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Verbatim: the framework is 'the most influential for reasoning about that gap and about the foundations of cryptography, and names the five worlds Algorithmica, Heuristica, Pessiland, Minicrypt and Cryptomania, defined by progressively stronger assumptions about the existence of computational hardness, running from a world where P = NP to a world where public-key cryptography is possible [7].'</a:t>
            </a:r>
          </a:p>
          <a:p>
            <a:pPr>
              <a:spcAft>
                <a:spcPts val="100"/>
              </a:spcAft>
            </a:pPr>
            <a:r>
              <a:rPr sz="800" b="0" i="0">
                <a:solidFill>
                  <a:srgbClr val="B29AA0"/>
                </a:solidFill>
                <a:latin typeface="Montserrat"/>
              </a:rPr>
              <a:t>[7] is an unrefereed 2026 arXiv preprint, used by the brief only for its restatement of Impagliazzo's framework.</a:t>
            </a:r>
          </a:p>
          <a:p>
            <a:pPr>
              <a:spcAft>
                <a:spcPts val="100"/>
              </a:spcAft>
            </a:pPr>
            <a:r>
              <a:rPr sz="800" b="0" i="0">
                <a:solidFill>
                  <a:srgbClr val="B29AA0"/>
                </a:solidFill>
                <a:latin typeface="Montserrat"/>
              </a:rPr>
              <a:t>Verbatim, and it is why the middle three rows stay empty: 'the primary source for the framework, Impagliazzo's 1995 paper, was not retrieved this run.'</a:t>
            </a:r>
          </a:p>
          <a:p>
            <a:pPr>
              <a:spcAft>
                <a:spcPts val="100"/>
              </a:spcAft>
            </a:pPr>
            <a:r>
              <a:rPr sz="800" b="0" i="0">
                <a:solidFill>
                  <a:srgbClr val="B29AA0"/>
                </a:solidFill>
                <a:latin typeface="Montserrat"/>
              </a:rPr>
              <a:t>Gap: only the two endpoints are characterised anywhere in the brief. Do not fill Heuristica, Pessiland or Minicrypt from memory before checking them against your own course.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OPTILAND: PRACTICE MOVED, THE THEORY DID NOT</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Worst-case intractability and practical intractability are different claims.</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15</a:t>
            </a:r>
          </a:p>
        </p:txBody>
      </p:sp>
      <p:sp>
        <p:nvSpPr>
          <p:cNvPr id="10" name="Rectangle 9"/>
          <p:cNvSpPr/>
          <p:nvPr/>
        </p:nvSpPr>
        <p:spPr>
          <a:xfrm>
            <a:off x="530352" y="1554480"/>
            <a:ext cx="3466490"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627632"/>
            <a:ext cx="3466490"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WHAT ADVANCED</a:t>
            </a:r>
          </a:p>
        </p:txBody>
      </p:sp>
      <p:sp>
        <p:nvSpPr>
          <p:cNvPr id="12" name="TextBox 11"/>
          <p:cNvSpPr txBox="1"/>
          <p:nvPr/>
        </p:nvSpPr>
        <p:spPr>
          <a:xfrm>
            <a:off x="530352" y="1901952"/>
            <a:ext cx="3466490" cy="3493008"/>
          </a:xfrm>
          <a:prstGeom prst="rect">
            <a:avLst/>
          </a:prstGeom>
          <a:noFill/>
        </p:spPr>
        <p:txBody>
          <a:bodyPr wrap="square" lIns="0" rIns="0" tIns="0" bIns="0">
            <a:spAutoFit/>
          </a:bodyPr>
          <a:lstStyle/>
          <a:p>
            <a:pPr>
              <a:spcAft>
                <a:spcPts val="400"/>
              </a:spcAft>
            </a:pPr>
            <a:r>
              <a:rPr sz="950" b="0" i="0">
                <a:solidFill>
                  <a:srgbClr val="5F4E53"/>
                </a:solidFill>
                <a:latin typeface="Montserrat"/>
              </a:rPr>
              <a:t>▪  'Dramatic advances in algorithms and hardware have allowed the field to tackle many NP-complete problems while making little progress breaking cryptographic systems [2].'</a:t>
            </a:r>
          </a:p>
          <a:p>
            <a:pPr>
              <a:spcAft>
                <a:spcPts val="400"/>
              </a:spcAft>
            </a:pPr>
            <a:r>
              <a:rPr sz="950" b="0" i="0">
                <a:solidFill>
                  <a:srgbClr val="5F4E53"/>
                </a:solidFill>
                <a:latin typeface="Montserrat"/>
              </a:rPr>
              <a:t>▪  Gap: the retrospective names no specific advance. No solver technique, no algorithmic method, no hardware development. 'Dramatic advances in algorithms and hardware' is as specific as [2] gets.</a:t>
            </a:r>
          </a:p>
        </p:txBody>
      </p:sp>
      <p:sp>
        <p:nvSpPr>
          <p:cNvPr id="13" name="Rectangle 12"/>
          <p:cNvSpPr/>
          <p:nvPr/>
        </p:nvSpPr>
        <p:spPr>
          <a:xfrm>
            <a:off x="4362602" y="1554480"/>
            <a:ext cx="3466490"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2602" y="1627632"/>
            <a:ext cx="3466490"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WHAT DID NOT</a:t>
            </a:r>
          </a:p>
        </p:txBody>
      </p:sp>
      <p:sp>
        <p:nvSpPr>
          <p:cNvPr id="15" name="TextBox 14"/>
          <p:cNvSpPr txBox="1"/>
          <p:nvPr/>
        </p:nvSpPr>
        <p:spPr>
          <a:xfrm>
            <a:off x="4362602" y="1901952"/>
            <a:ext cx="3466490" cy="3493008"/>
          </a:xfrm>
          <a:prstGeom prst="rect">
            <a:avLst/>
          </a:prstGeom>
          <a:noFill/>
        </p:spPr>
        <p:txBody>
          <a:bodyPr wrap="square" lIns="0" rIns="0" tIns="0" bIns="0">
            <a:spAutoFit/>
          </a:bodyPr>
          <a:lstStyle/>
          <a:p>
            <a:pPr>
              <a:spcAft>
                <a:spcPts val="400"/>
              </a:spcAft>
            </a:pPr>
            <a:r>
              <a:rPr sz="950" b="0" i="0">
                <a:solidFill>
                  <a:srgbClr val="5F4E53"/>
                </a:solidFill>
                <a:latin typeface="Montserrat"/>
              </a:rPr>
              <a:t>▪  Little progress breaking cryptographic systems [2].</a:t>
            </a:r>
          </a:p>
          <a:p>
            <a:pPr>
              <a:spcAft>
                <a:spcPts val="400"/>
              </a:spcAft>
            </a:pPr>
            <a:r>
              <a:rPr sz="950" b="0" i="0">
                <a:solidFill>
                  <a:srgbClr val="5F4E53"/>
                </a:solidFill>
                <a:latin typeface="Montserrat"/>
              </a:rPr>
              <a:t>▪  The theory itself did not move: the question is still open.</a:t>
            </a:r>
          </a:p>
        </p:txBody>
      </p:sp>
      <p:sp>
        <p:nvSpPr>
          <p:cNvPr id="16" name="Rectangle 15"/>
          <p:cNvSpPr/>
          <p:nvPr/>
        </p:nvSpPr>
        <p:spPr>
          <a:xfrm>
            <a:off x="8194852" y="1554480"/>
            <a:ext cx="3466490"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4852" y="1627632"/>
            <a:ext cx="3466490"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CONCRETE FIGURES, FROM THE 2009 SURVEY [1], NOT THE RETROSPECTIVE</a:t>
            </a:r>
          </a:p>
        </p:txBody>
      </p:sp>
      <p:sp>
        <p:nvSpPr>
          <p:cNvPr id="18" name="TextBox 17"/>
          <p:cNvSpPr txBox="1"/>
          <p:nvPr/>
        </p:nvSpPr>
        <p:spPr>
          <a:xfrm>
            <a:off x="8194852" y="1901952"/>
            <a:ext cx="3466490" cy="3493008"/>
          </a:xfrm>
          <a:prstGeom prst="rect">
            <a:avLst/>
          </a:prstGeom>
          <a:noFill/>
        </p:spPr>
        <p:txBody>
          <a:bodyPr wrap="square" lIns="0" rIns="0" tIns="0" bIns="0">
            <a:spAutoFit/>
          </a:bodyPr>
          <a:lstStyle/>
          <a:p>
            <a:pPr>
              <a:spcAft>
                <a:spcPts val="400"/>
              </a:spcAft>
            </a:pPr>
            <a:r>
              <a:rPr sz="950" b="0" i="0">
                <a:solidFill>
                  <a:srgbClr val="5F4E53"/>
                </a:solidFill>
                <a:latin typeface="Montserrat"/>
              </a:rPr>
              <a:t>▪  Travelling salesperson instances of more than 10,000 cities solved in practice [1].</a:t>
            </a:r>
          </a:p>
          <a:p>
            <a:pPr>
              <a:spcAft>
                <a:spcPts val="400"/>
              </a:spcAft>
            </a:pPr>
            <a:r>
              <a:rPr sz="950" b="0" i="0">
                <a:solidFill>
                  <a:srgbClr val="5F4E53"/>
                </a:solidFill>
                <a:latin typeface="Montserrat"/>
              </a:rPr>
              <a:t>▪  SAT solvers settling competition formulas of one million variables [1].</a:t>
            </a:r>
          </a:p>
          <a:p>
            <a:pPr>
              <a:spcAft>
                <a:spcPts val="400"/>
              </a:spcAft>
            </a:pPr>
            <a:r>
              <a:rPr sz="950" b="0" i="0">
                <a:solidFill>
                  <a:srgbClr val="5F4E53"/>
                </a:solidFill>
                <a:latin typeface="Montserrat"/>
              </a:rPr>
              <a:t>▪  Against roughly 100 variables for the best general algorithms on hard 3SAT instances [1].</a:t>
            </a:r>
          </a:p>
        </p:txBody>
      </p:sp>
      <p:sp>
        <p:nvSpPr>
          <p:cNvPr id="19" name="TextBox 18"/>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Source [2] is Fortnow, 'Fifty Years of P vs NP and the Possibility of the Impossible', CACM. The brief's citation key attaches no year to it, so none is given here; the outline draft's '2021 to 2022' has been removed for that reason. The brief does state that the retrospective says the problem turned 50 in 2021.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COMMON MISCONCEPTIONS (BRIEF, SECTION 4)</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Three claims that sound right and are graded wrong, in the brief's own wording.</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16</a:t>
            </a:r>
          </a:p>
        </p:txBody>
      </p:sp>
      <p:graphicFrame>
        <p:nvGraphicFramePr>
          <p:cNvPr id="10" name="Table 9"/>
          <p:cNvGraphicFramePr>
            <a:graphicFrameLocks noGrp="1"/>
          </p:cNvGraphicFramePr>
          <p:nvPr/>
        </p:nvGraphicFramePr>
        <p:xfrm>
          <a:off x="530352" y="1572768"/>
          <a:ext cx="11130990" cy="1024128"/>
        </p:xfrm>
        <a:graphic>
          <a:graphicData uri="http://schemas.openxmlformats.org/drawingml/2006/table">
            <a:tbl>
              <a:tblPr firstRow="1" bandRow="1">
                <a:tableStyleId>{5C22544A-7EE6-4342-B048-85BDC9FD1C3A}</a:tableStyleId>
              </a:tblPr>
              <a:tblGrid>
                <a:gridCol w="3339297"/>
                <a:gridCol w="7791693"/>
              </a:tblGrid>
              <a:tr h="256032">
                <a:tc>
                  <a:txBody>
                    <a:bodyPr/>
                    <a:lstStyle/>
                    <a:p>
                      <a:r>
                        <a:rPr sz="900" b="1" i="0">
                          <a:solidFill>
                            <a:srgbClr val="FFFFFF"/>
                          </a:solidFill>
                          <a:latin typeface="Montserrat"/>
                        </a:rPr>
                        <a:t>The claim</a:t>
                      </a:r>
                    </a:p>
                  </a:txBody>
                  <a:tcPr anchor="ctr" marL="54864" marR="54864">
                    <a:solidFill>
                      <a:srgbClr val="9E6474"/>
                    </a:solidFill>
                  </a:tcPr>
                </a:tc>
                <a:tc>
                  <a:txBody>
                    <a:bodyPr/>
                    <a:lstStyle/>
                    <a:p>
                      <a:r>
                        <a:rPr sz="900" b="1" i="0">
                          <a:solidFill>
                            <a:srgbClr val="FFFFFF"/>
                          </a:solidFill>
                          <a:latin typeface="Montserrat"/>
                        </a:rPr>
                        <a:t>What the brief says instead</a:t>
                      </a:r>
                    </a:p>
                  </a:txBody>
                  <a:tcPr anchor="ctr" marL="54864" marR="54864">
                    <a:solidFill>
                      <a:srgbClr val="9E6474"/>
                    </a:solidFill>
                  </a:tcPr>
                </a:tc>
              </a:tr>
              <a:tr h="256032">
                <a:tc>
                  <a:txBody>
                    <a:bodyPr/>
                    <a:lstStyle/>
                    <a:p>
                      <a:r>
                        <a:rPr sz="900" b="0" i="0">
                          <a:solidFill>
                            <a:srgbClr val="5F4E53"/>
                          </a:solidFill>
                          <a:latin typeface="Montserrat"/>
                        </a:rPr>
                        <a:t>'The barriers are evidence that P != NP'</a:t>
                      </a:r>
                    </a:p>
                  </a:txBody>
                  <a:tcPr anchor="ctr" marL="54864" marR="54864">
                    <a:solidFill>
                      <a:srgbClr val="FDF8F8"/>
                    </a:solidFill>
                  </a:tcPr>
                </a:tc>
                <a:tc>
                  <a:txBody>
                    <a:bodyPr/>
                    <a:lstStyle/>
                    <a:p>
                      <a:r>
                        <a:rPr sz="900" b="0" i="0">
                          <a:solidFill>
                            <a:srgbClr val="5F4E53"/>
                          </a:solidFill>
                          <a:latin typeface="Montserrat"/>
                        </a:rPr>
                        <a:t>'The barriers are theorems about proof techniques, not about the answer; Baker, Gill and Solovay rules out relativizing proofs in either direction [1], and Aaronson and Wigderson show major open problems need non-algebrizing techniques without implying which way they resolve [3].'</a:t>
                      </a:r>
                    </a:p>
                  </a:txBody>
                  <a:tcPr anchor="ctr" marL="54864" marR="54864">
                    <a:solidFill>
                      <a:srgbClr val="FDF8F8"/>
                    </a:solidFill>
                  </a:tcPr>
                </a:tc>
              </a:tr>
              <a:tr h="256032">
                <a:tc>
                  <a:txBody>
                    <a:bodyPr/>
                    <a:lstStyle/>
                    <a:p>
                      <a:r>
                        <a:rPr sz="900" b="0" i="0">
                          <a:solidFill>
                            <a:srgbClr val="5F4E53"/>
                          </a:solidFill>
                          <a:latin typeface="Montserrat"/>
                        </a:rPr>
                        <a:t>'If P = NP, everything NP-complete becomes practically fast'</a:t>
                      </a:r>
                    </a:p>
                  </a:txBody>
                  <a:tcPr anchor="ctr" marL="54864" marR="54864">
                    <a:solidFill>
                      <a:srgbClr val="FBF2F3"/>
                    </a:solidFill>
                  </a:tcPr>
                </a:tc>
                <a:tc>
                  <a:txBody>
                    <a:bodyPr/>
                    <a:lstStyle/>
                    <a:p>
                      <a:r>
                        <a:rPr sz="900" b="0" i="0">
                          <a:solidFill>
                            <a:srgbClr val="5F4E53"/>
                          </a:solidFill>
                          <a:latin typeface="Montserrat"/>
                        </a:rPr>
                        <a:t>Fortnow's explicit caveat: 'Technically we could have P = NP, but not have practical algorithms for most NP-complete problems' [1]. A proof could be nonconstructive, or the polynomial could be enormous.</a:t>
                      </a:r>
                    </a:p>
                  </a:txBody>
                  <a:tcPr anchor="ctr" marL="54864" marR="54864">
                    <a:solidFill>
                      <a:srgbClr val="FBF2F3"/>
                    </a:solidFill>
                  </a:tcPr>
                </a:tc>
              </a:tr>
              <a:tr h="256032">
                <a:tc>
                  <a:txBody>
                    <a:bodyPr/>
                    <a:lstStyle/>
                    <a:p>
                      <a:r>
                        <a:rPr sz="900" b="0" i="0">
                          <a:solidFill>
                            <a:srgbClr val="5F4E53"/>
                          </a:solidFill>
                          <a:latin typeface="Montserrat"/>
                        </a:rPr>
                        <a:t>'NP-complete means hopeless in practice'</a:t>
                      </a:r>
                    </a:p>
                  </a:txBody>
                  <a:tcPr anchor="ctr" marL="54864" marR="54864">
                    <a:solidFill>
                      <a:srgbClr val="FDF8F8"/>
                    </a:solidFill>
                  </a:tcPr>
                </a:tc>
                <a:tc>
                  <a:txBody>
                    <a:bodyPr/>
                    <a:lstStyle/>
                    <a:p>
                      <a:r>
                        <a:rPr sz="900" b="0" i="0">
                          <a:solidFill>
                            <a:srgbClr val="5F4E53"/>
                          </a:solidFill>
                          <a:latin typeface="Montserrat"/>
                        </a:rPr>
                        <a:t>Corrected by the 2009 survey's own figures: travelling salesperson instances of more than 10,000 cities solved in practice, and SAT solvers settling competition formulas of one million variables, against roughly 100 variables for the best general algorithms on hard 3SAT instances [1].</a:t>
                      </a:r>
                    </a:p>
                  </a:txBody>
                  <a:tcPr anchor="ctr" marL="54864" marR="54864">
                    <a:solidFill>
                      <a:srgbClr val="FDF8F8"/>
                    </a:solidFill>
                  </a:tcPr>
                </a:tc>
              </a:tr>
            </a:tbl>
          </a:graphicData>
        </a:graphic>
      </p:graphicFrame>
      <p:sp>
        <p:nvSpPr>
          <p:cNvPr id="11" name="TextBox 10"/>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Why the first confusion arises, brief section 4, verbatim: "'We cannot prove X' and 'X is false' are easy to conflate when the belief that P != NP is already stated in the same paragraph."</a:t>
            </a:r>
          </a:p>
          <a:p>
            <a:pPr>
              <a:spcAft>
                <a:spcPts val="100"/>
              </a:spcAft>
            </a:pPr>
            <a:r>
              <a:rPr sz="800" b="0" i="0">
                <a:solidFill>
                  <a:srgbClr val="B29AA0"/>
                </a:solidFill>
                <a:latin typeface="Montserrat"/>
              </a:rPr>
              <a:t>The brief's section 4 states a reason for each entry; the reason recovered for this deck is the one quoted above, for the first row.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WHERE THE RESEARCH STANDS</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Stalled rather than converging, with one self-described hundred-year programme running.</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17</a:t>
            </a:r>
          </a:p>
        </p:txBody>
      </p:sp>
      <p:sp>
        <p:nvSpPr>
          <p:cNvPr id="10" name="Rectangle 9"/>
          <p:cNvSpPr/>
          <p:nvPr/>
        </p:nvSpPr>
        <p:spPr>
          <a:xfrm>
            <a:off x="530352" y="1554480"/>
            <a:ext cx="3466490"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627632"/>
            <a:ext cx="3466490"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HOW THE FIELD DESCRIBES IT</a:t>
            </a:r>
          </a:p>
        </p:txBody>
      </p:sp>
      <p:sp>
        <p:nvSpPr>
          <p:cNvPr id="12" name="TextBox 11"/>
          <p:cNvSpPr txBox="1"/>
          <p:nvPr/>
        </p:nvSpPr>
        <p:spPr>
          <a:xfrm>
            <a:off x="530352" y="1901952"/>
            <a:ext cx="3466490" cy="3493008"/>
          </a:xfrm>
          <a:prstGeom prst="rect">
            <a:avLst/>
          </a:prstGeom>
          <a:noFill/>
        </p:spPr>
        <p:txBody>
          <a:bodyPr wrap="square" lIns="0" rIns="0" tIns="0" bIns="0">
            <a:spAutoFit/>
          </a:bodyPr>
          <a:lstStyle/>
          <a:p>
            <a:pPr>
              <a:spcAft>
                <a:spcPts val="400"/>
              </a:spcAft>
            </a:pPr>
            <a:r>
              <a:rPr sz="950" b="0" i="0">
                <a:solidFill>
                  <a:srgbClr val="5F4E53"/>
                </a:solidFill>
                <a:latin typeface="Montserrat"/>
              </a:rPr>
              <a:t>▪  Fortnow's 2009 survey opens by saying the article could be written in two words: still open [1].</a:t>
            </a:r>
          </a:p>
          <a:p>
            <a:pPr>
              <a:spcAft>
                <a:spcPts val="400"/>
              </a:spcAft>
            </a:pPr>
            <a:r>
              <a:rPr sz="950" b="0" i="0">
                <a:solidFill>
                  <a:srgbClr val="5F4E53"/>
                </a:solidFill>
                <a:latin typeface="Montserrat"/>
              </a:rPr>
              <a:t>▪  It reports that circuit complexity and other approaches have stalled, with little reason to expect a separation soon [1].</a:t>
            </a:r>
          </a:p>
          <a:p>
            <a:pPr>
              <a:spcAft>
                <a:spcPts val="400"/>
              </a:spcAft>
            </a:pPr>
            <a:r>
              <a:rPr sz="950" b="0" i="0">
                <a:solidFill>
                  <a:srgbClr val="5F4E53"/>
                </a:solidFill>
                <a:latin typeface="Montserrat"/>
              </a:rPr>
              <a:t>▪  The 50-year retrospective states that the problem turned 50 in 2021 and that its resolution remains far out of reach [2].</a:t>
            </a:r>
          </a:p>
        </p:txBody>
      </p:sp>
      <p:sp>
        <p:nvSpPr>
          <p:cNvPr id="13" name="Rectangle 12"/>
          <p:cNvSpPr/>
          <p:nvPr/>
        </p:nvSpPr>
        <p:spPr>
          <a:xfrm>
            <a:off x="4362602" y="1554480"/>
            <a:ext cx="3466490"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2602" y="1627632"/>
            <a:ext cx="3466490"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GEOMETRIC COMPLEXITY THEORY</a:t>
            </a:r>
          </a:p>
        </p:txBody>
      </p:sp>
      <p:sp>
        <p:nvSpPr>
          <p:cNvPr id="15" name="TextBox 14"/>
          <p:cNvSpPr txBox="1"/>
          <p:nvPr/>
        </p:nvSpPr>
        <p:spPr>
          <a:xfrm>
            <a:off x="4362602" y="1901952"/>
            <a:ext cx="3466490" cy="3493008"/>
          </a:xfrm>
          <a:prstGeom prst="rect">
            <a:avLst/>
          </a:prstGeom>
          <a:noFill/>
        </p:spPr>
        <p:txBody>
          <a:bodyPr wrap="square" lIns="0" rIns="0" tIns="0" bIns="0">
            <a:spAutoFit/>
          </a:bodyPr>
          <a:lstStyle/>
          <a:p>
            <a:pPr>
              <a:spcAft>
                <a:spcPts val="400"/>
              </a:spcAft>
            </a:pPr>
            <a:r>
              <a:rPr sz="950" b="0" i="0">
                <a:solidFill>
                  <a:srgbClr val="5F4E53"/>
                </a:solidFill>
                <a:latin typeface="Montserrat"/>
              </a:rPr>
              <a:t>▪  'The longest-range programme named in the retrieved material': Mulmuley and Sohoni's attack through algebraic geometry [1].</a:t>
            </a:r>
          </a:p>
          <a:p>
            <a:pPr>
              <a:spcAft>
                <a:spcPts val="400"/>
              </a:spcAft>
            </a:pPr>
            <a:r>
              <a:rPr sz="950" b="0" i="0">
                <a:solidFill>
                  <a:srgbClr val="5F4E53"/>
                </a:solidFill>
                <a:latin typeface="Montserrat"/>
              </a:rPr>
              <a:t>▪  'For each n an integral point in a certain high-dimensional polygon P_n would force any circuit family for Hamiltonian path to have size at least n to the log n on inputs of size n, implying P != NP' [1].</a:t>
            </a:r>
          </a:p>
          <a:p>
            <a:pPr>
              <a:spcAft>
                <a:spcPts val="400"/>
              </a:spcAft>
            </a:pPr>
            <a:r>
              <a:rPr sz="950" b="0" i="0">
                <a:solidFill>
                  <a:srgbClr val="5F4E53"/>
                </a:solidFill>
                <a:latin typeface="Montserrat"/>
              </a:rPr>
              <a:t>▪  'Mulmuley believes it will take about 100 years to carry the programme out, if it works at all' [1].</a:t>
            </a:r>
          </a:p>
          <a:p>
            <a:pPr>
              <a:spcAft>
                <a:spcPts val="400"/>
              </a:spcAft>
            </a:pPr>
            <a:r>
              <a:rPr sz="950" b="0" i="0">
                <a:solidFill>
                  <a:srgbClr val="5F4E53"/>
                </a:solidFill>
                <a:latin typeface="Montserrat"/>
              </a:rPr>
              <a:t>▪  The estimate reaches the brief through the 2009 survey. The brief gives no post-2009 status for GCT.</a:t>
            </a:r>
          </a:p>
        </p:txBody>
      </p:sp>
      <p:sp>
        <p:nvSpPr>
          <p:cNvPr id="16" name="Rectangle 15"/>
          <p:cNvSpPr/>
          <p:nvPr/>
        </p:nvSpPr>
        <p:spPr>
          <a:xfrm>
            <a:off x="8194852" y="1554480"/>
            <a:ext cx="3466490"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4852" y="1627632"/>
            <a:ext cx="3466490"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WHAT IS NOT ESTABLISHED HERE</a:t>
            </a:r>
          </a:p>
        </p:txBody>
      </p:sp>
      <p:sp>
        <p:nvSpPr>
          <p:cNvPr id="18" name="TextBox 17"/>
          <p:cNvSpPr txBox="1"/>
          <p:nvPr/>
        </p:nvSpPr>
        <p:spPr>
          <a:xfrm>
            <a:off x="8194852" y="1901952"/>
            <a:ext cx="3466490" cy="3493008"/>
          </a:xfrm>
          <a:prstGeom prst="rect">
            <a:avLst/>
          </a:prstGeom>
          <a:noFill/>
        </p:spPr>
        <p:txBody>
          <a:bodyPr wrap="square" lIns="0" rIns="0" tIns="0" bIns="0">
            <a:spAutoFit/>
          </a:bodyPr>
          <a:lstStyle/>
          <a:p>
            <a:pPr>
              <a:spcAft>
                <a:spcPts val="400"/>
              </a:spcAft>
            </a:pPr>
            <a:r>
              <a:rPr sz="950" b="0" i="0">
                <a:solidFill>
                  <a:srgbClr val="5F4E53"/>
                </a:solidFill>
                <a:latin typeface="Montserrat"/>
              </a:rPr>
              <a:t>▪  Who first posed the P versus NP question, and when. The brief never states it, and Cook's May 1971 paper plus 'the problem turned 50 in 2021' is not an origin attribution. This deck does not make one.</a:t>
            </a:r>
          </a:p>
          <a:p>
            <a:pPr>
              <a:spcAft>
                <a:spcPts val="400"/>
              </a:spcAft>
            </a:pPr>
            <a:r>
              <a:rPr sz="950" b="0" i="0">
                <a:solidFill>
                  <a:srgbClr val="5F4E53"/>
                </a:solidFill>
                <a:latin typeface="Montserrat"/>
              </a:rPr>
              <a:t>▪  What the belief that P != NP rests on (slide 11).</a:t>
            </a:r>
          </a:p>
          <a:p>
            <a:pPr>
              <a:spcAft>
                <a:spcPts val="400"/>
              </a:spcAft>
            </a:pPr>
            <a:r>
              <a:rPr sz="950" b="0" i="0">
                <a:solidFill>
                  <a:srgbClr val="5F4E53"/>
                </a:solidFill>
                <a:latin typeface="Montserrat"/>
              </a:rPr>
              <a:t>▪  Whether the question is formally independent of the standard axioms (slide 19).</a:t>
            </a:r>
          </a:p>
          <a:p>
            <a:pPr>
              <a:spcAft>
                <a:spcPts val="400"/>
              </a:spcAft>
            </a:pPr>
            <a:r>
              <a:rPr sz="950" b="0" i="0">
                <a:solidFill>
                  <a:srgbClr val="5F4E53"/>
                </a:solidFill>
                <a:latin typeface="Montserrat"/>
              </a:rPr>
              <a:t>▪  Statements of SAT and 3-SAT (slide 8).</a:t>
            </a:r>
          </a:p>
        </p:txBody>
      </p:sp>
      <p:sp>
        <p:nvSpPr>
          <p:cNvPr id="19" name="TextBox 18"/>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Razborov and Rudich carry no date anywhere on this deck, including the timeline on the next slide, because the brief gives none.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DATED LANDMARKS THE BRIEF STATES</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Every date here is one the brief states. The brief never says who first posed the question or when, so this timeline has no origin row.</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18</a:t>
            </a:r>
          </a:p>
        </p:txBody>
      </p:sp>
      <p:graphicFrame>
        <p:nvGraphicFramePr>
          <p:cNvPr id="10" name="Table 9"/>
          <p:cNvGraphicFramePr>
            <a:graphicFrameLocks noGrp="1"/>
          </p:cNvGraphicFramePr>
          <p:nvPr/>
        </p:nvGraphicFramePr>
        <p:xfrm>
          <a:off x="530352" y="1572768"/>
          <a:ext cx="11130989" cy="3328416"/>
        </p:xfrm>
        <a:graphic>
          <a:graphicData uri="http://schemas.openxmlformats.org/drawingml/2006/table">
            <a:tbl>
              <a:tblPr firstRow="1" bandRow="1">
                <a:tableStyleId>{5C22544A-7EE6-4342-B048-85BDC9FD1C3A}</a:tableStyleId>
              </a:tblPr>
              <a:tblGrid>
                <a:gridCol w="1335718"/>
                <a:gridCol w="8125623"/>
                <a:gridCol w="1669648"/>
              </a:tblGrid>
              <a:tr h="256032">
                <a:tc>
                  <a:txBody>
                    <a:bodyPr/>
                    <a:lstStyle/>
                    <a:p>
                      <a:r>
                        <a:rPr sz="900" b="1" i="0">
                          <a:solidFill>
                            <a:srgbClr val="FFFFFF"/>
                          </a:solidFill>
                          <a:latin typeface="Montserrat"/>
                        </a:rPr>
                        <a:t>Year</a:t>
                      </a:r>
                    </a:p>
                  </a:txBody>
                  <a:tcPr anchor="ctr" marL="54864" marR="54864">
                    <a:solidFill>
                      <a:srgbClr val="9E6474"/>
                    </a:solidFill>
                  </a:tcPr>
                </a:tc>
                <a:tc>
                  <a:txBody>
                    <a:bodyPr/>
                    <a:lstStyle/>
                    <a:p>
                      <a:r>
                        <a:rPr sz="900" b="1" i="0">
                          <a:solidFill>
                            <a:srgbClr val="FFFFFF"/>
                          </a:solidFill>
                          <a:latin typeface="Montserrat"/>
                        </a:rPr>
                        <a:t>What the brief states</a:t>
                      </a:r>
                    </a:p>
                  </a:txBody>
                  <a:tcPr anchor="ctr" marL="54864" marR="54864">
                    <a:solidFill>
                      <a:srgbClr val="9E6474"/>
                    </a:solidFill>
                  </a:tcPr>
                </a:tc>
                <a:tc>
                  <a:txBody>
                    <a:bodyPr/>
                    <a:lstStyle/>
                    <a:p>
                      <a:r>
                        <a:rPr sz="900" b="1" i="0">
                          <a:solidFill>
                            <a:srgbClr val="FFFFFF"/>
                          </a:solidFill>
                          <a:latin typeface="Montserrat"/>
                        </a:rPr>
                        <a:t>Source</a:t>
                      </a:r>
                    </a:p>
                  </a:txBody>
                  <a:tcPr anchor="ctr" marL="54864" marR="54864">
                    <a:solidFill>
                      <a:srgbClr val="9E6474"/>
                    </a:solidFill>
                  </a:tcPr>
                </a:tc>
              </a:tr>
              <a:tr h="256032">
                <a:tc>
                  <a:txBody>
                    <a:bodyPr/>
                    <a:lstStyle/>
                    <a:p>
                      <a:r>
                        <a:rPr sz="900" b="0" i="0">
                          <a:solidFill>
                            <a:srgbClr val="5F4E53"/>
                          </a:solidFill>
                          <a:latin typeface="Montserrat"/>
                        </a:rPr>
                        <a:t>1965</a:t>
                      </a:r>
                    </a:p>
                  </a:txBody>
                  <a:tcPr anchor="ctr" marL="54864" marR="54864">
                    <a:solidFill>
                      <a:srgbClr val="FDF8F8"/>
                    </a:solidFill>
                  </a:tcPr>
                </a:tc>
                <a:tc>
                  <a:txBody>
                    <a:bodyPr/>
                    <a:lstStyle/>
                    <a:p>
                      <a:r>
                        <a:rPr sz="900" b="0" i="0">
                          <a:solidFill>
                            <a:srgbClr val="5F4E53"/>
                          </a:solidFill>
                          <a:latin typeface="Montserrat"/>
                        </a:rPr>
                        <a:t>Jack Edmonds proposes a notion of 'efficient computation' alongside his matching algorithm</a:t>
                      </a:r>
                    </a:p>
                  </a:txBody>
                  <a:tcPr anchor="ctr" marL="54864" marR="54864">
                    <a:solidFill>
                      <a:srgbClr val="FDF8F8"/>
                    </a:solidFill>
                  </a:tcPr>
                </a:tc>
                <a:tc>
                  <a:txBody>
                    <a:bodyPr/>
                    <a:lstStyle/>
                    <a:p>
                      <a:r>
                        <a:rPr sz="900" b="0" i="0">
                          <a:solidFill>
                            <a:srgbClr val="5F4E53"/>
                          </a:solidFill>
                          <a:latin typeface="Montserrat"/>
                        </a:rPr>
                        <a:t>[1]</a:t>
                      </a:r>
                    </a:p>
                  </a:txBody>
                  <a:tcPr anchor="ctr" marL="54864" marR="54864">
                    <a:solidFill>
                      <a:srgbClr val="FDF8F8"/>
                    </a:solidFill>
                  </a:tcPr>
                </a:tc>
              </a:tr>
              <a:tr h="256032">
                <a:tc>
                  <a:txBody>
                    <a:bodyPr/>
                    <a:lstStyle/>
                    <a:p>
                      <a:r>
                        <a:rPr sz="900" b="0" i="0">
                          <a:solidFill>
                            <a:srgbClr val="5F4E53"/>
                          </a:solidFill>
                          <a:latin typeface="Montserrat"/>
                        </a:rPr>
                        <a:t>1971</a:t>
                      </a:r>
                    </a:p>
                  </a:txBody>
                  <a:tcPr anchor="ctr" marL="54864" marR="54864">
                    <a:solidFill>
                      <a:srgbClr val="FBF2F3"/>
                    </a:solidFill>
                  </a:tcPr>
                </a:tc>
                <a:tc>
                  <a:txBody>
                    <a:bodyPr/>
                    <a:lstStyle/>
                    <a:p>
                      <a:r>
                        <a:rPr sz="900" b="0" i="0">
                          <a:solidFill>
                            <a:srgbClr val="5F4E53"/>
                          </a:solidFill>
                          <a:latin typeface="Montserrat"/>
                        </a:rPr>
                        <a:t>Stephen Cook's proof. Presented in Shaker Heights, Ohio in 'early May 1971' [1]; the 50-year retrospective dates the introduction to 'May 4, 1971' [2]. Both dates stand as their own source gives them.</a:t>
                      </a:r>
                    </a:p>
                  </a:txBody>
                  <a:tcPr anchor="ctr" marL="54864" marR="54864">
                    <a:solidFill>
                      <a:srgbClr val="FBF2F3"/>
                    </a:solidFill>
                  </a:tcPr>
                </a:tc>
                <a:tc>
                  <a:txBody>
                    <a:bodyPr/>
                    <a:lstStyle/>
                    <a:p>
                      <a:r>
                        <a:rPr sz="900" b="0" i="0">
                          <a:solidFill>
                            <a:srgbClr val="5F4E53"/>
                          </a:solidFill>
                          <a:latin typeface="Montserrat"/>
                        </a:rPr>
                        <a:t>[1][2][4]</a:t>
                      </a:r>
                    </a:p>
                  </a:txBody>
                  <a:tcPr anchor="ctr" marL="54864" marR="54864">
                    <a:solidFill>
                      <a:srgbClr val="FBF2F3"/>
                    </a:solidFill>
                  </a:tcPr>
                </a:tc>
              </a:tr>
              <a:tr h="256032">
                <a:tc>
                  <a:txBody>
                    <a:bodyPr/>
                    <a:lstStyle/>
                    <a:p>
                      <a:r>
                        <a:rPr sz="900" b="0" i="0">
                          <a:solidFill>
                            <a:srgbClr val="5F4E53"/>
                          </a:solidFill>
                          <a:latin typeface="Montserrat"/>
                        </a:rPr>
                        <a:t>1972</a:t>
                      </a:r>
                    </a:p>
                  </a:txBody>
                  <a:tcPr anchor="ctr" marL="54864" marR="54864">
                    <a:solidFill>
                      <a:srgbClr val="FDF8F8"/>
                    </a:solidFill>
                  </a:tcPr>
                </a:tc>
                <a:tc>
                  <a:txBody>
                    <a:bodyPr/>
                    <a:lstStyle/>
                    <a:p>
                      <a:r>
                        <a:rPr sz="900" b="0" i="0">
                          <a:solidFill>
                            <a:srgbClr val="5F4E53"/>
                          </a:solidFill>
                          <a:latin typeface="Montserrat"/>
                        </a:rPr>
                        <a:t>Karp's paper demonstrates 21 NP-complete problems; the list now runs to thousands</a:t>
                      </a:r>
                    </a:p>
                  </a:txBody>
                  <a:tcPr anchor="ctr" marL="54864" marR="54864">
                    <a:solidFill>
                      <a:srgbClr val="FDF8F8"/>
                    </a:solidFill>
                  </a:tcPr>
                </a:tc>
                <a:tc>
                  <a:txBody>
                    <a:bodyPr/>
                    <a:lstStyle/>
                    <a:p>
                      <a:r>
                        <a:rPr sz="900" b="0" i="0">
                          <a:solidFill>
                            <a:srgbClr val="5F4E53"/>
                          </a:solidFill>
                          <a:latin typeface="Montserrat"/>
                        </a:rPr>
                        <a:t>[4]</a:t>
                      </a:r>
                    </a:p>
                  </a:txBody>
                  <a:tcPr anchor="ctr" marL="54864" marR="54864">
                    <a:solidFill>
                      <a:srgbClr val="FDF8F8"/>
                    </a:solidFill>
                  </a:tcPr>
                </a:tc>
              </a:tr>
              <a:tr h="256032">
                <a:tc>
                  <a:txBody>
                    <a:bodyPr/>
                    <a:lstStyle/>
                    <a:p>
                      <a:r>
                        <a:rPr sz="900" b="0" i="0">
                          <a:solidFill>
                            <a:srgbClr val="5F4E53"/>
                          </a:solidFill>
                          <a:latin typeface="Montserrat"/>
                        </a:rPr>
                        <a:t>1973</a:t>
                      </a:r>
                    </a:p>
                  </a:txBody>
                  <a:tcPr anchor="ctr" marL="54864" marR="54864">
                    <a:solidFill>
                      <a:srgbClr val="FBF2F3"/>
                    </a:solidFill>
                  </a:tcPr>
                </a:tc>
                <a:tc>
                  <a:txBody>
                    <a:bodyPr/>
                    <a:lstStyle/>
                    <a:p>
                      <a:r>
                        <a:rPr sz="900" b="0" i="0">
                          <a:solidFill>
                            <a:srgbClr val="5F4E53"/>
                          </a:solidFill>
                          <a:latin typeface="Montserrat"/>
                        </a:rPr>
                        <a:t>Leonid Levin's independent result, with Cook's giving the Cook-Levin theorem</a:t>
                      </a:r>
                    </a:p>
                  </a:txBody>
                  <a:tcPr anchor="ctr" marL="54864" marR="54864">
                    <a:solidFill>
                      <a:srgbClr val="FBF2F3"/>
                    </a:solidFill>
                  </a:tcPr>
                </a:tc>
                <a:tc>
                  <a:txBody>
                    <a:bodyPr/>
                    <a:lstStyle/>
                    <a:p>
                      <a:r>
                        <a:rPr sz="900" b="0" i="0">
                          <a:solidFill>
                            <a:srgbClr val="5F4E53"/>
                          </a:solidFill>
                          <a:latin typeface="Montserrat"/>
                        </a:rPr>
                        <a:t>[4]</a:t>
                      </a:r>
                    </a:p>
                  </a:txBody>
                  <a:tcPr anchor="ctr" marL="54864" marR="54864">
                    <a:solidFill>
                      <a:srgbClr val="FBF2F3"/>
                    </a:solidFill>
                  </a:tcPr>
                </a:tc>
              </a:tr>
              <a:tr h="256032">
                <a:tc>
                  <a:txBody>
                    <a:bodyPr/>
                    <a:lstStyle/>
                    <a:p>
                      <a:r>
                        <a:rPr sz="900" b="0" i="0">
                          <a:solidFill>
                            <a:srgbClr val="5F4E53"/>
                          </a:solidFill>
                          <a:latin typeface="Montserrat"/>
                        </a:rPr>
                        <a:t>1975</a:t>
                      </a:r>
                    </a:p>
                  </a:txBody>
                  <a:tcPr anchor="ctr" marL="54864" marR="54864">
                    <a:solidFill>
                      <a:srgbClr val="FDF8F8"/>
                    </a:solidFill>
                  </a:tcPr>
                </a:tc>
                <a:tc>
                  <a:txBody>
                    <a:bodyPr/>
                    <a:lstStyle/>
                    <a:p>
                      <a:r>
                        <a:rPr sz="900" b="0" i="0">
                          <a:solidFill>
                            <a:srgbClr val="5F4E53"/>
                          </a:solidFill>
                          <a:latin typeface="Montserrat"/>
                        </a:rPr>
                        <a:t>Baker, Gill and Solovay: the relativization barrier</a:t>
                      </a:r>
                    </a:p>
                  </a:txBody>
                  <a:tcPr anchor="ctr" marL="54864" marR="54864">
                    <a:solidFill>
                      <a:srgbClr val="FDF8F8"/>
                    </a:solidFill>
                  </a:tcPr>
                </a:tc>
                <a:tc>
                  <a:txBody>
                    <a:bodyPr/>
                    <a:lstStyle/>
                    <a:p>
                      <a:r>
                        <a:rPr sz="900" b="0" i="0">
                          <a:solidFill>
                            <a:srgbClr val="5F4E53"/>
                          </a:solidFill>
                          <a:latin typeface="Montserrat"/>
                        </a:rPr>
                        <a:t>Brief, section 1</a:t>
                      </a:r>
                    </a:p>
                  </a:txBody>
                  <a:tcPr anchor="ctr" marL="54864" marR="54864">
                    <a:solidFill>
                      <a:srgbClr val="FDF8F8"/>
                    </a:solidFill>
                  </a:tcPr>
                </a:tc>
              </a:tr>
              <a:tr h="256032">
                <a:tc>
                  <a:txBody>
                    <a:bodyPr/>
                    <a:lstStyle/>
                    <a:p>
                      <a:r>
                        <a:rPr sz="900" b="0" i="0">
                          <a:solidFill>
                            <a:srgbClr val="5F4E53"/>
                          </a:solidFill>
                          <a:latin typeface="Montserrat"/>
                        </a:rPr>
                        <a:t>1984</a:t>
                      </a:r>
                    </a:p>
                  </a:txBody>
                  <a:tcPr anchor="ctr" marL="54864" marR="54864">
                    <a:solidFill>
                      <a:srgbClr val="FBF2F3"/>
                    </a:solidFill>
                  </a:tcPr>
                </a:tc>
                <a:tc>
                  <a:txBody>
                    <a:bodyPr/>
                    <a:lstStyle/>
                    <a:p>
                      <a:r>
                        <a:rPr sz="900" b="0" i="0">
                          <a:solidFill>
                            <a:srgbClr val="5F4E53"/>
                          </a:solidFill>
                          <a:latin typeface="Montserrat"/>
                        </a:rPr>
                        <a:t>Furst, Saxe and Sipser: small circuits cannot compute parity at fixed depth</a:t>
                      </a:r>
                    </a:p>
                  </a:txBody>
                  <a:tcPr anchor="ctr" marL="54864" marR="54864">
                    <a:solidFill>
                      <a:srgbClr val="FBF2F3"/>
                    </a:solidFill>
                  </a:tcPr>
                </a:tc>
                <a:tc>
                  <a:txBody>
                    <a:bodyPr/>
                    <a:lstStyle/>
                    <a:p>
                      <a:r>
                        <a:rPr sz="900" b="0" i="0">
                          <a:solidFill>
                            <a:srgbClr val="5F4E53"/>
                          </a:solidFill>
                          <a:latin typeface="Montserrat"/>
                        </a:rPr>
                        <a:t>[1][3]</a:t>
                      </a:r>
                    </a:p>
                  </a:txBody>
                  <a:tcPr anchor="ctr" marL="54864" marR="54864">
                    <a:solidFill>
                      <a:srgbClr val="FBF2F3"/>
                    </a:solidFill>
                  </a:tcPr>
                </a:tc>
              </a:tr>
              <a:tr h="256032">
                <a:tc>
                  <a:txBody>
                    <a:bodyPr/>
                    <a:lstStyle/>
                    <a:p>
                      <a:r>
                        <a:rPr sz="900" b="0" i="0">
                          <a:solidFill>
                            <a:srgbClr val="5F4E53"/>
                          </a:solidFill>
                          <a:latin typeface="Montserrat"/>
                        </a:rPr>
                        <a:t>1985</a:t>
                      </a:r>
                    </a:p>
                  </a:txBody>
                  <a:tcPr anchor="ctr" marL="54864" marR="54864">
                    <a:solidFill>
                      <a:srgbClr val="FDF8F8"/>
                    </a:solidFill>
                  </a:tcPr>
                </a:tc>
                <a:tc>
                  <a:txBody>
                    <a:bodyPr/>
                    <a:lstStyle/>
                    <a:p>
                      <a:r>
                        <a:rPr sz="900" b="0" i="0">
                          <a:solidFill>
                            <a:srgbClr val="5F4E53"/>
                          </a:solidFill>
                          <a:latin typeface="Montserrat"/>
                        </a:rPr>
                        <a:t>Razborov: Clique has no small monotone circuits</a:t>
                      </a:r>
                    </a:p>
                  </a:txBody>
                  <a:tcPr anchor="ctr" marL="54864" marR="54864">
                    <a:solidFill>
                      <a:srgbClr val="FDF8F8"/>
                    </a:solidFill>
                  </a:tcPr>
                </a:tc>
                <a:tc>
                  <a:txBody>
                    <a:bodyPr/>
                    <a:lstStyle/>
                    <a:p>
                      <a:r>
                        <a:rPr sz="900" b="0" i="0">
                          <a:solidFill>
                            <a:srgbClr val="5F4E53"/>
                          </a:solidFill>
                          <a:latin typeface="Montserrat"/>
                        </a:rPr>
                        <a:t>[1]</a:t>
                      </a:r>
                    </a:p>
                  </a:txBody>
                  <a:tcPr anchor="ctr" marL="54864" marR="54864">
                    <a:solidFill>
                      <a:srgbClr val="FDF8F8"/>
                    </a:solidFill>
                  </a:tcPr>
                </a:tc>
              </a:tr>
              <a:tr h="256032">
                <a:tc>
                  <a:txBody>
                    <a:bodyPr/>
                    <a:lstStyle/>
                    <a:p>
                      <a:r>
                        <a:rPr sz="900" b="0" i="0">
                          <a:solidFill>
                            <a:srgbClr val="5F4E53"/>
                          </a:solidFill>
                          <a:latin typeface="Montserrat"/>
                        </a:rPr>
                        <a:t>2000</a:t>
                      </a:r>
                    </a:p>
                  </a:txBody>
                  <a:tcPr anchor="ctr" marL="54864" marR="54864">
                    <a:solidFill>
                      <a:srgbClr val="FBF2F3"/>
                    </a:solidFill>
                  </a:tcPr>
                </a:tc>
                <a:tc>
                  <a:txBody>
                    <a:bodyPr/>
                    <a:lstStyle/>
                    <a:p>
                      <a:r>
                        <a:rPr sz="900" b="0" i="0">
                          <a:solidFill>
                            <a:srgbClr val="5F4E53"/>
                          </a:solidFill>
                          <a:latin typeface="Montserrat"/>
                        </a:rPr>
                        <a:t>The Clay Mathematics Institute names it one of the seven Millennium Prize Problems, with a million-dollar prize for a proof either way</a:t>
                      </a:r>
                    </a:p>
                  </a:txBody>
                  <a:tcPr anchor="ctr" marL="54864" marR="54864">
                    <a:solidFill>
                      <a:srgbClr val="FBF2F3"/>
                    </a:solidFill>
                  </a:tcPr>
                </a:tc>
                <a:tc>
                  <a:txBody>
                    <a:bodyPr/>
                    <a:lstStyle/>
                    <a:p>
                      <a:r>
                        <a:rPr sz="900" b="0" i="0">
                          <a:solidFill>
                            <a:srgbClr val="5F4E53"/>
                          </a:solidFill>
                          <a:latin typeface="Montserrat"/>
                        </a:rPr>
                        <a:t>[1][4]</a:t>
                      </a:r>
                    </a:p>
                  </a:txBody>
                  <a:tcPr anchor="ctr" marL="54864" marR="54864">
                    <a:solidFill>
                      <a:srgbClr val="FBF2F3"/>
                    </a:solidFill>
                  </a:tcPr>
                </a:tc>
              </a:tr>
              <a:tr h="256032">
                <a:tc>
                  <a:txBody>
                    <a:bodyPr/>
                    <a:lstStyle/>
                    <a:p>
                      <a:r>
                        <a:rPr sz="900" b="0" i="0">
                          <a:solidFill>
                            <a:srgbClr val="5F4E53"/>
                          </a:solidFill>
                          <a:latin typeface="Montserrat"/>
                        </a:rPr>
                        <a:t>2009</a:t>
                      </a:r>
                    </a:p>
                  </a:txBody>
                  <a:tcPr anchor="ctr" marL="54864" marR="54864">
                    <a:solidFill>
                      <a:srgbClr val="FDF8F8"/>
                    </a:solidFill>
                  </a:tcPr>
                </a:tc>
                <a:tc>
                  <a:txBody>
                    <a:bodyPr/>
                    <a:lstStyle/>
                    <a:p>
                      <a:r>
                        <a:rPr sz="900" b="0" i="0">
                          <a:solidFill>
                            <a:srgbClr val="5F4E53"/>
                          </a:solidFill>
                          <a:latin typeface="Montserrat"/>
                        </a:rPr>
                        <a:t>Aaronson and Wigderson: algebrization, ACM TOCT</a:t>
                      </a:r>
                    </a:p>
                  </a:txBody>
                  <a:tcPr anchor="ctr" marL="54864" marR="54864">
                    <a:solidFill>
                      <a:srgbClr val="FDF8F8"/>
                    </a:solidFill>
                  </a:tcPr>
                </a:tc>
                <a:tc>
                  <a:txBody>
                    <a:bodyPr/>
                    <a:lstStyle/>
                    <a:p>
                      <a:r>
                        <a:rPr sz="900" b="0" i="0">
                          <a:solidFill>
                            <a:srgbClr val="5F4E53"/>
                          </a:solidFill>
                          <a:latin typeface="Montserrat"/>
                        </a:rPr>
                        <a:t>[3]</a:t>
                      </a:r>
                    </a:p>
                  </a:txBody>
                  <a:tcPr anchor="ctr" marL="54864" marR="54864">
                    <a:solidFill>
                      <a:srgbClr val="FDF8F8"/>
                    </a:solidFill>
                  </a:tcPr>
                </a:tc>
              </a:tr>
              <a:tr h="256032">
                <a:tc>
                  <a:txBody>
                    <a:bodyPr/>
                    <a:lstStyle/>
                    <a:p>
                      <a:r>
                        <a:rPr sz="900" b="0" i="0">
                          <a:solidFill>
                            <a:srgbClr val="5F4E53"/>
                          </a:solidFill>
                          <a:latin typeface="Montserrat"/>
                        </a:rPr>
                        <a:t>2009</a:t>
                      </a:r>
                    </a:p>
                  </a:txBody>
                  <a:tcPr anchor="ctr" marL="54864" marR="54864">
                    <a:solidFill>
                      <a:srgbClr val="FBF2F3"/>
                    </a:solidFill>
                  </a:tcPr>
                </a:tc>
                <a:tc>
                  <a:txBody>
                    <a:bodyPr/>
                    <a:lstStyle/>
                    <a:p>
                      <a:r>
                        <a:rPr sz="900" b="0" i="0">
                          <a:solidFill>
                            <a:srgbClr val="5F4E53"/>
                          </a:solidFill>
                          <a:latin typeface="Montserrat"/>
                        </a:rPr>
                        <a:t>Fortnow, 'The Status of the P versus NP Problem', CACM</a:t>
                      </a:r>
                    </a:p>
                  </a:txBody>
                  <a:tcPr anchor="ctr" marL="54864" marR="54864">
                    <a:solidFill>
                      <a:srgbClr val="FBF2F3"/>
                    </a:solidFill>
                  </a:tcPr>
                </a:tc>
                <a:tc>
                  <a:txBody>
                    <a:bodyPr/>
                    <a:lstStyle/>
                    <a:p>
                      <a:r>
                        <a:rPr sz="900" b="0" i="0">
                          <a:solidFill>
                            <a:srgbClr val="5F4E53"/>
                          </a:solidFill>
                          <a:latin typeface="Montserrat"/>
                        </a:rPr>
                        <a:t>[1]</a:t>
                      </a:r>
                    </a:p>
                  </a:txBody>
                  <a:tcPr anchor="ctr" marL="54864" marR="54864">
                    <a:solidFill>
                      <a:srgbClr val="FBF2F3"/>
                    </a:solidFill>
                  </a:tcPr>
                </a:tc>
              </a:tr>
              <a:tr h="256032">
                <a:tc>
                  <a:txBody>
                    <a:bodyPr/>
                    <a:lstStyle/>
                    <a:p>
                      <a:r>
                        <a:rPr sz="900" b="0" i="0">
                          <a:solidFill>
                            <a:srgbClr val="5F4E53"/>
                          </a:solidFill>
                          <a:latin typeface="Montserrat"/>
                        </a:rPr>
                        <a:t>2021</a:t>
                      </a:r>
                    </a:p>
                  </a:txBody>
                  <a:tcPr anchor="ctr" marL="54864" marR="54864">
                    <a:solidFill>
                      <a:srgbClr val="FDF8F8"/>
                    </a:solidFill>
                  </a:tcPr>
                </a:tc>
                <a:tc>
                  <a:txBody>
                    <a:bodyPr/>
                    <a:lstStyle/>
                    <a:p>
                      <a:r>
                        <a:rPr sz="900" b="0" i="0">
                          <a:solidFill>
                            <a:srgbClr val="5F4E53"/>
                          </a:solidFill>
                          <a:latin typeface="Montserrat"/>
                        </a:rPr>
                        <a:t>Fortnow's retrospective states the problem turned 50 in 2021</a:t>
                      </a:r>
                    </a:p>
                  </a:txBody>
                  <a:tcPr anchor="ctr" marL="54864" marR="54864">
                    <a:solidFill>
                      <a:srgbClr val="FDF8F8"/>
                    </a:solidFill>
                  </a:tcPr>
                </a:tc>
                <a:tc>
                  <a:txBody>
                    <a:bodyPr/>
                    <a:lstStyle/>
                    <a:p>
                      <a:r>
                        <a:rPr sz="900" b="0" i="0">
                          <a:solidFill>
                            <a:srgbClr val="5F4E53"/>
                          </a:solidFill>
                          <a:latin typeface="Montserrat"/>
                        </a:rPr>
                        <a:t>[2]</a:t>
                      </a:r>
                    </a:p>
                  </a:txBody>
                  <a:tcPr anchor="ctr" marL="54864" marR="54864">
                    <a:solidFill>
                      <a:srgbClr val="FDF8F8"/>
                    </a:solidFill>
                  </a:tcPr>
                </a:tc>
              </a:tr>
              <a:tr h="256032">
                <a:tc>
                  <a:txBody>
                    <a:bodyPr/>
                    <a:lstStyle/>
                    <a:p>
                      <a:r>
                        <a:rPr sz="900" b="0" i="0">
                          <a:solidFill>
                            <a:srgbClr val="5F4E53"/>
                          </a:solidFill>
                          <a:latin typeface="Montserrat"/>
                        </a:rPr>
                        <a:t>No year</a:t>
                      </a:r>
                    </a:p>
                  </a:txBody>
                  <a:tcPr anchor="ctr" marL="54864" marR="54864">
                    <a:solidFill>
                      <a:srgbClr val="FBF2F3"/>
                    </a:solidFill>
                  </a:tcPr>
                </a:tc>
                <a:tc>
                  <a:txBody>
                    <a:bodyPr/>
                    <a:lstStyle/>
                    <a:p>
                      <a:r>
                        <a:rPr sz="900" b="0" i="0">
                          <a:solidFill>
                            <a:srgbClr val="5F4E53"/>
                          </a:solidFill>
                          <a:latin typeface="Montserrat"/>
                        </a:rPr>
                        <a:t>Razborov and Rudich, natural proofs. The brief gives no year and no full citation.</a:t>
                      </a:r>
                    </a:p>
                  </a:txBody>
                  <a:tcPr anchor="ctr" marL="54864" marR="54864">
                    <a:solidFill>
                      <a:srgbClr val="FBF2F3"/>
                    </a:solidFill>
                  </a:tcPr>
                </a:tc>
                <a:tc>
                  <a:txBody>
                    <a:bodyPr/>
                    <a:lstStyle/>
                    <a:p>
                      <a:r>
                        <a:rPr sz="900" b="0" i="0">
                          <a:solidFill>
                            <a:srgbClr val="5F4E53"/>
                          </a:solidFill>
                          <a:latin typeface="Montserrat"/>
                        </a:rPr>
                        <a:t>[1]</a:t>
                      </a:r>
                    </a:p>
                  </a:txBody>
                  <a:tcPr anchor="ctr" marL="54864" marR="54864">
                    <a:solidFill>
                      <a:srgbClr val="FBF2F3"/>
                    </a:solidFill>
                  </a:tcPr>
                </a:tc>
              </a:tr>
            </a:tbl>
          </a:graphicData>
        </a:graphic>
      </p:graphicFrame>
      <p:sp>
        <p:nvSpPr>
          <p:cNvPr id="11" name="TextBox 10"/>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The brief never states who first posed the P versus NP question, or when, so this timeline does not begin with an origin row. Do not infer one from the 1971 and 2021 rows.</a:t>
            </a:r>
          </a:p>
          <a:p>
            <a:pPr>
              <a:spcAft>
                <a:spcPts val="100"/>
              </a:spcAft>
            </a:pPr>
            <a:r>
              <a:rPr sz="800" b="0" i="0">
                <a:solidFill>
                  <a:srgbClr val="B29AA0"/>
                </a:solidFill>
                <a:latin typeface="Montserrat"/>
              </a:rPr>
              <a:t>The two dates for Cook's presentation are kept separate and labelled, as the brief's section 6.3 requires. They are not blended into one date.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OPEN QUESTIONS AND WHAT TO ASK</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Independence is on this deck as an open question, not as content.</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19</a:t>
            </a:r>
          </a:p>
        </p:txBody>
      </p:sp>
      <p:sp>
        <p:nvSpPr>
          <p:cNvPr id="10" name="Rectangle 9"/>
          <p:cNvSpPr/>
          <p:nvPr/>
        </p:nvSpPr>
        <p:spPr>
          <a:xfrm>
            <a:off x="530352" y="1554480"/>
            <a:ext cx="3466490"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627632"/>
            <a:ext cx="3466490"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IS P VERSUS NP FORMALLY INDEPENDENT?</a:t>
            </a:r>
          </a:p>
        </p:txBody>
      </p:sp>
      <p:sp>
        <p:nvSpPr>
          <p:cNvPr id="12" name="TextBox 11"/>
          <p:cNvSpPr txBox="1"/>
          <p:nvPr/>
        </p:nvSpPr>
        <p:spPr>
          <a:xfrm>
            <a:off x="530352" y="1901952"/>
            <a:ext cx="3466490" cy="3493008"/>
          </a:xfrm>
          <a:prstGeom prst="rect">
            <a:avLst/>
          </a:prstGeom>
          <a:noFill/>
        </p:spPr>
        <p:txBody>
          <a:bodyPr wrap="square" lIns="0" rIns="0" tIns="0" bIns="0">
            <a:spAutoFit/>
          </a:bodyPr>
          <a:lstStyle/>
          <a:p>
            <a:pPr>
              <a:spcAft>
                <a:spcPts val="400"/>
              </a:spcAft>
            </a:pPr>
            <a:r>
              <a:rPr sz="950" b="0" i="0">
                <a:solidFill>
                  <a:srgbClr val="5F4E53"/>
                </a:solidFill>
                <a:latin typeface="Montserrat"/>
              </a:rPr>
              <a:t>▪  'Scott Aaronson wrote a Computational Complexity Column, edited by Lance Fortnow, titled Is P Versus NP Formally Independent?, which considers whether P = NP is independent of the usual axiom systems [10].'</a:t>
            </a:r>
          </a:p>
          <a:p>
            <a:pPr>
              <a:spcAft>
                <a:spcPts val="400"/>
              </a:spcAft>
            </a:pPr>
            <a:r>
              <a:rPr sz="950" b="0" i="0">
                <a:solidFill>
                  <a:srgbClr val="5F4E53"/>
                </a:solidFill>
                <a:latin typeface="Montserrat"/>
              </a:rPr>
              <a:t>▪  'This run retrieved only a title-and-snippet preview of that column, so its actual conclusion is not established here.' Preview only, not full text.</a:t>
            </a:r>
          </a:p>
          <a:p>
            <a:pPr>
              <a:spcAft>
                <a:spcPts val="400"/>
              </a:spcAft>
            </a:pPr>
            <a:r>
              <a:rPr sz="950" b="0" i="0">
                <a:solidFill>
                  <a:srgbClr val="5F4E53"/>
                </a:solidFill>
                <a:latin typeface="Montserrat"/>
              </a:rPr>
              <a:t>▪  The Bulletin of the EATCS issue number and year are [INFERRED - VERIFY] from the filename column81.pdf, not read from the document.</a:t>
            </a:r>
          </a:p>
          <a:p>
            <a:pPr>
              <a:spcAft>
                <a:spcPts val="400"/>
              </a:spcAft>
            </a:pPr>
            <a:r>
              <a:rPr sz="950" b="0" i="0">
                <a:solidFill>
                  <a:srgbClr val="5F4E53"/>
                </a:solidFill>
                <a:latin typeface="Montserrat"/>
              </a:rPr>
              <a:t>▪  Ask your instructor: is independence considered a live possibility or a curiosity, and what would be required to establish it?</a:t>
            </a:r>
          </a:p>
        </p:txBody>
      </p:sp>
      <p:sp>
        <p:nvSpPr>
          <p:cNvPr id="13" name="Rectangle 12"/>
          <p:cNvSpPr/>
          <p:nvPr/>
        </p:nvSpPr>
        <p:spPr>
          <a:xfrm>
            <a:off x="4362602" y="1554480"/>
            <a:ext cx="3466490"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2602" y="1627632"/>
            <a:ext cx="3466490"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OTHER QUESTIONS THE BRIEF HANDS YOU</a:t>
            </a:r>
          </a:p>
        </p:txBody>
      </p:sp>
      <p:sp>
        <p:nvSpPr>
          <p:cNvPr id="15" name="TextBox 14"/>
          <p:cNvSpPr txBox="1"/>
          <p:nvPr/>
        </p:nvSpPr>
        <p:spPr>
          <a:xfrm>
            <a:off x="4362602" y="1901952"/>
            <a:ext cx="3466490" cy="3493008"/>
          </a:xfrm>
          <a:prstGeom prst="rect">
            <a:avLst/>
          </a:prstGeom>
          <a:noFill/>
        </p:spPr>
        <p:txBody>
          <a:bodyPr wrap="square" lIns="0" rIns="0" tIns="0" bIns="0">
            <a:spAutoFit/>
          </a:bodyPr>
          <a:lstStyle/>
          <a:p>
            <a:pPr>
              <a:spcAft>
                <a:spcPts val="400"/>
              </a:spcAft>
            </a:pPr>
            <a:r>
              <a:rPr sz="950" b="0" i="0">
                <a:solidFill>
                  <a:srgbClr val="5F4E53"/>
                </a:solidFill>
                <a:latin typeface="Montserrat"/>
              </a:rPr>
              <a:t>▪  Ask your instructor: has Geometric Complexity Theory produced any unconditional complexity-theoretic consequence yet, or is its value still entirely prospective?</a:t>
            </a:r>
          </a:p>
          <a:p>
            <a:pPr>
              <a:spcAft>
                <a:spcPts val="400"/>
              </a:spcAft>
            </a:pPr>
            <a:r>
              <a:rPr sz="950" b="0" i="0">
                <a:solidFill>
                  <a:srgbClr val="5F4E53"/>
                </a:solidFill>
                <a:latin typeface="Montserrat"/>
              </a:rPr>
              <a:t>▪  The brief's open question 6 leaves the nondeterministic-machine phrasing of NP and the verifier phrasing to be lined up against Cook's official formulation, which this run never retrieved.</a:t>
            </a:r>
          </a:p>
        </p:txBody>
      </p:sp>
      <p:sp>
        <p:nvSpPr>
          <p:cNvPr id="16" name="Rectangle 15"/>
          <p:cNvSpPr/>
          <p:nvPr/>
        </p:nvSpPr>
        <p:spPr>
          <a:xfrm>
            <a:off x="8194852" y="1554480"/>
            <a:ext cx="3466490"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4852" y="1627632"/>
            <a:ext cx="3466490" cy="201168"/>
          </a:xfrm>
          <a:prstGeom prst="rect">
            <a:avLst/>
          </a:prstGeom>
          <a:noFill/>
        </p:spPr>
        <p:txBody>
          <a:bodyPr wrap="square" lIns="0" rIns="0" tIns="0" bIns="0">
            <a:spAutoFit/>
          </a:bodyPr>
          <a:lstStyle/>
          <a:p>
            <a:pPr>
              <a:spcAft>
                <a:spcPts val="0"/>
              </a:spcAft>
            </a:pPr>
            <a:r>
              <a:rPr sz="900" b="1" i="0">
                <a:solidFill>
                  <a:srgbClr val="B98292"/>
                </a:solidFill>
                <a:latin typeface="Montserrat"/>
              </a:rPr>
              <a:t>REQUIRED ACTIONS THE BRIEF ATTACHES</a:t>
            </a:r>
          </a:p>
        </p:txBody>
      </p:sp>
      <p:sp>
        <p:nvSpPr>
          <p:cNvPr id="18" name="TextBox 17"/>
          <p:cNvSpPr txBox="1"/>
          <p:nvPr/>
        </p:nvSpPr>
        <p:spPr>
          <a:xfrm>
            <a:off x="8194852" y="1901952"/>
            <a:ext cx="3466490" cy="3493008"/>
          </a:xfrm>
          <a:prstGeom prst="rect">
            <a:avLst/>
          </a:prstGeom>
          <a:noFill/>
        </p:spPr>
        <p:txBody>
          <a:bodyPr wrap="square" lIns="0" rIns="0" tIns="0" bIns="0">
            <a:spAutoFit/>
          </a:bodyPr>
          <a:lstStyle/>
          <a:p>
            <a:pPr>
              <a:spcAft>
                <a:spcPts val="400"/>
              </a:spcAft>
            </a:pPr>
            <a:r>
              <a:rPr sz="950" b="0" i="0">
                <a:solidFill>
                  <a:srgbClr val="5F4E53"/>
                </a:solidFill>
                <a:latin typeface="Montserrat"/>
              </a:rPr>
              <a:t>▪  Section 3.2: 'Check which presentation of the Cook-Levin reduction your own course uses, the tableau or formula encoding of a nondeterministic computation or the NANDSAT chain, because the two look very different on an exam even though they prove the same theorem.'</a:t>
            </a:r>
          </a:p>
          <a:p>
            <a:pPr>
              <a:spcAft>
                <a:spcPts val="400"/>
              </a:spcAft>
            </a:pPr>
            <a:r>
              <a:rPr sz="950" b="0" i="0">
                <a:solidFill>
                  <a:srgbClr val="5F4E53"/>
                </a:solidFill>
                <a:latin typeface="Montserrat"/>
              </a:rPr>
              <a:t>▪  Section 3.6: check which of the three barriers a claimed proof addresses before reading its body.</a:t>
            </a:r>
          </a:p>
        </p:txBody>
      </p:sp>
      <p:sp>
        <p:nvSpPr>
          <p:cNvPr id="19" name="TextBox 18"/>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The brief establishes only that the independence question has been asked, and by whom. No result, no argument, no conclusion, and no independence result for any axiom system.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KNOW COLD: THE SECTION 2 DEFINITIONS</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Backs are the brief's section 2 wordings, verbatim, because a flashcard back is memorised word for word.</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20</a:t>
            </a:r>
          </a:p>
        </p:txBody>
      </p:sp>
      <p:sp>
        <p:nvSpPr>
          <p:cNvPr id="10" name="Rectangle 9"/>
          <p:cNvSpPr/>
          <p:nvPr/>
        </p:nvSpPr>
        <p:spPr>
          <a:xfrm>
            <a:off x="530352" y="1572768"/>
            <a:ext cx="3576218" cy="1417320"/>
          </a:xfrm>
          <a:prstGeom prst="rect">
            <a:avLst/>
          </a:prstGeom>
          <a:solidFill>
            <a:srgbClr val="FDF8F8"/>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 y="1572768"/>
            <a:ext cx="3576218" cy="36576"/>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1719072"/>
            <a:ext cx="3320186" cy="1143000"/>
          </a:xfrm>
          <a:prstGeom prst="rect">
            <a:avLst/>
          </a:prstGeom>
          <a:noFill/>
        </p:spPr>
        <p:txBody>
          <a:bodyPr wrap="square" lIns="0" rIns="0" tIns="0" bIns="0">
            <a:spAutoFit/>
          </a:bodyPr>
          <a:lstStyle/>
          <a:p>
            <a:pPr>
              <a:spcAft>
                <a:spcPts val="400"/>
              </a:spcAft>
            </a:pPr>
            <a:r>
              <a:rPr sz="1000" b="1" i="0">
                <a:solidFill>
                  <a:srgbClr val="9E6474"/>
                </a:solidFill>
                <a:latin typeface="Montserrat"/>
              </a:rPr>
              <a:t>P</a:t>
            </a:r>
          </a:p>
          <a:p>
            <a:pPr>
              <a:spcAft>
                <a:spcPts val="300"/>
              </a:spcAft>
            </a:pPr>
            <a:r>
              <a:rPr sz="900" b="0" i="0">
                <a:solidFill>
                  <a:srgbClr val="5F4E53"/>
                </a:solidFill>
                <a:latin typeface="Montserrat"/>
              </a:rPr>
              <a:t>'The class of decision problems (languages) solvable by an algorithm within a number of steps bounded by a fixed polynomial in the input length [1]. The class contains problems solvable in polynomial time [4].'</a:t>
            </a:r>
          </a:p>
          <a:p>
            <a:pPr>
              <a:spcAft>
                <a:spcPts val="0"/>
              </a:spcAft>
            </a:pPr>
            <a:r>
              <a:rPr sz="750" b="0" i="0">
                <a:solidFill>
                  <a:srgbClr val="B29AA0"/>
                </a:solidFill>
                <a:latin typeface="Montserrat"/>
              </a:rPr>
              <a:t>DEFINITION Brief, section 2</a:t>
            </a:r>
          </a:p>
        </p:txBody>
      </p:sp>
      <p:sp>
        <p:nvSpPr>
          <p:cNvPr id="13" name="Rectangle 12"/>
          <p:cNvSpPr/>
          <p:nvPr/>
        </p:nvSpPr>
        <p:spPr>
          <a:xfrm>
            <a:off x="4307738" y="1572768"/>
            <a:ext cx="3576218" cy="1417320"/>
          </a:xfrm>
          <a:prstGeom prst="rect">
            <a:avLst/>
          </a:prstGeom>
          <a:solidFill>
            <a:srgbClr val="FDF8F8"/>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572768"/>
            <a:ext cx="3576218" cy="36576"/>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5754" y="1719072"/>
            <a:ext cx="3320186" cy="1143000"/>
          </a:xfrm>
          <a:prstGeom prst="rect">
            <a:avLst/>
          </a:prstGeom>
          <a:noFill/>
        </p:spPr>
        <p:txBody>
          <a:bodyPr wrap="square" lIns="0" rIns="0" tIns="0" bIns="0">
            <a:spAutoFit/>
          </a:bodyPr>
          <a:lstStyle/>
          <a:p>
            <a:pPr>
              <a:spcAft>
                <a:spcPts val="400"/>
              </a:spcAft>
            </a:pPr>
            <a:r>
              <a:rPr sz="1000" b="1" i="0">
                <a:solidFill>
                  <a:srgbClr val="9E6474"/>
                </a:solidFill>
                <a:latin typeface="Montserrat"/>
              </a:rPr>
              <a:t>NP</a:t>
            </a:r>
          </a:p>
          <a:p>
            <a:pPr>
              <a:spcAft>
                <a:spcPts val="300"/>
              </a:spcAft>
            </a:pPr>
            <a:r>
              <a:rPr sz="900" b="0" i="0">
                <a:solidFill>
                  <a:srgbClr val="5F4E53"/>
                </a:solidFill>
                <a:latin typeface="Montserrat"/>
              </a:rPr>
              <a:t>'The collection of problems that have efficiently verifiable solutions [1]. Equivalently, membership in NP means any proposed solution can be verified in polynomial time by a deterministic computer [4].'</a:t>
            </a:r>
          </a:p>
          <a:p>
            <a:pPr>
              <a:spcAft>
                <a:spcPts val="0"/>
              </a:spcAft>
            </a:pPr>
            <a:r>
              <a:rPr sz="750" b="0" i="0">
                <a:solidFill>
                  <a:srgbClr val="B29AA0"/>
                </a:solidFill>
                <a:latin typeface="Montserrat"/>
              </a:rPr>
              <a:t>DEFINITION Brief, section 2</a:t>
            </a:r>
          </a:p>
        </p:txBody>
      </p:sp>
      <p:sp>
        <p:nvSpPr>
          <p:cNvPr id="16" name="Rectangle 15"/>
          <p:cNvSpPr/>
          <p:nvPr/>
        </p:nvSpPr>
        <p:spPr>
          <a:xfrm>
            <a:off x="8085124" y="1572768"/>
            <a:ext cx="3576218" cy="1417320"/>
          </a:xfrm>
          <a:prstGeom prst="rect">
            <a:avLst/>
          </a:prstGeom>
          <a:solidFill>
            <a:srgbClr val="FDF8F8"/>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85124" y="1572768"/>
            <a:ext cx="3576218" cy="36576"/>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3140" y="1719072"/>
            <a:ext cx="3320186" cy="1143000"/>
          </a:xfrm>
          <a:prstGeom prst="rect">
            <a:avLst/>
          </a:prstGeom>
          <a:noFill/>
        </p:spPr>
        <p:txBody>
          <a:bodyPr wrap="square" lIns="0" rIns="0" tIns="0" bIns="0">
            <a:spAutoFit/>
          </a:bodyPr>
          <a:lstStyle/>
          <a:p>
            <a:pPr>
              <a:spcAft>
                <a:spcPts val="400"/>
              </a:spcAft>
            </a:pPr>
            <a:r>
              <a:rPr sz="1000" b="1" i="0">
                <a:solidFill>
                  <a:srgbClr val="9E6474"/>
                </a:solidFill>
                <a:latin typeface="Montserrat"/>
              </a:rPr>
              <a:t>The P versus NP question</a:t>
            </a:r>
          </a:p>
          <a:p>
            <a:pPr>
              <a:spcAft>
                <a:spcPts val="300"/>
              </a:spcAft>
            </a:pPr>
            <a:r>
              <a:rPr sz="900" b="0" i="0">
                <a:solidFill>
                  <a:srgbClr val="5F4E53"/>
                </a:solidFill>
                <a:latin typeface="Montserrat"/>
              </a:rPr>
              <a:t>'Whether every problem with an efficiently verifiable solution also has an efficiently computable one [1]. Whether P equals NP remains the central open question in theoretical computer science [4].'</a:t>
            </a:r>
          </a:p>
          <a:p>
            <a:pPr>
              <a:spcAft>
                <a:spcPts val="0"/>
              </a:spcAft>
            </a:pPr>
            <a:r>
              <a:rPr sz="750" b="0" i="0">
                <a:solidFill>
                  <a:srgbClr val="B29AA0"/>
                </a:solidFill>
                <a:latin typeface="Montserrat"/>
              </a:rPr>
              <a:t>STATEMENT Brief, section 2</a:t>
            </a:r>
          </a:p>
        </p:txBody>
      </p:sp>
      <p:sp>
        <p:nvSpPr>
          <p:cNvPr id="19" name="Rectangle 18"/>
          <p:cNvSpPr/>
          <p:nvPr/>
        </p:nvSpPr>
        <p:spPr>
          <a:xfrm>
            <a:off x="530352" y="3191256"/>
            <a:ext cx="3576218" cy="1417320"/>
          </a:xfrm>
          <a:prstGeom prst="rect">
            <a:avLst/>
          </a:prstGeom>
          <a:solidFill>
            <a:srgbClr val="FDF8F8"/>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0352" y="3191256"/>
            <a:ext cx="3576218" cy="36576"/>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337560"/>
            <a:ext cx="3320186" cy="1143000"/>
          </a:xfrm>
          <a:prstGeom prst="rect">
            <a:avLst/>
          </a:prstGeom>
          <a:noFill/>
        </p:spPr>
        <p:txBody>
          <a:bodyPr wrap="square" lIns="0" rIns="0" tIns="0" bIns="0">
            <a:spAutoFit/>
          </a:bodyPr>
          <a:lstStyle/>
          <a:p>
            <a:pPr>
              <a:spcAft>
                <a:spcPts val="400"/>
              </a:spcAft>
            </a:pPr>
            <a:r>
              <a:rPr sz="1000" b="1" i="0">
                <a:solidFill>
                  <a:srgbClr val="9E6474"/>
                </a:solidFill>
                <a:latin typeface="Montserrat"/>
              </a:rPr>
              <a:t>Polynomial-time reduction</a:t>
            </a:r>
          </a:p>
          <a:p>
            <a:pPr>
              <a:spcAft>
                <a:spcPts val="300"/>
              </a:spcAft>
            </a:pPr>
            <a:r>
              <a:rPr sz="900" b="0" i="0">
                <a:solidFill>
                  <a:srgbClr val="5F4E53"/>
                </a:solidFill>
                <a:latin typeface="Montserrat"/>
              </a:rPr>
              <a:t>'A function, computable in polynomial time, mapping every instance of A to an instance of B with the same yes/no answer; if it exists, a fast algorithm for B yields a fast algorithm for A [4].'</a:t>
            </a:r>
          </a:p>
          <a:p>
            <a:pPr>
              <a:spcAft>
                <a:spcPts val="0"/>
              </a:spcAft>
            </a:pPr>
            <a:r>
              <a:rPr sz="750" b="0" i="0">
                <a:solidFill>
                  <a:srgbClr val="B29AA0"/>
                </a:solidFill>
                <a:latin typeface="Montserrat"/>
              </a:rPr>
              <a:t>DEFINITION Brief, section 2</a:t>
            </a:r>
          </a:p>
        </p:txBody>
      </p:sp>
      <p:sp>
        <p:nvSpPr>
          <p:cNvPr id="22" name="Rectangle 21"/>
          <p:cNvSpPr/>
          <p:nvPr/>
        </p:nvSpPr>
        <p:spPr>
          <a:xfrm>
            <a:off x="4307738" y="3191256"/>
            <a:ext cx="3576218" cy="1417320"/>
          </a:xfrm>
          <a:prstGeom prst="rect">
            <a:avLst/>
          </a:prstGeom>
          <a:solidFill>
            <a:srgbClr val="FDF8F8"/>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7738" y="3191256"/>
            <a:ext cx="3576218" cy="36576"/>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5754" y="3337560"/>
            <a:ext cx="3320186" cy="1143000"/>
          </a:xfrm>
          <a:prstGeom prst="rect">
            <a:avLst/>
          </a:prstGeom>
          <a:noFill/>
        </p:spPr>
        <p:txBody>
          <a:bodyPr wrap="square" lIns="0" rIns="0" tIns="0" bIns="0">
            <a:spAutoFit/>
          </a:bodyPr>
          <a:lstStyle/>
          <a:p>
            <a:pPr>
              <a:spcAft>
                <a:spcPts val="400"/>
              </a:spcAft>
            </a:pPr>
            <a:r>
              <a:rPr sz="1000" b="1" i="0">
                <a:solidFill>
                  <a:srgbClr val="9E6474"/>
                </a:solidFill>
                <a:latin typeface="Montserrat"/>
              </a:rPr>
              <a:t>NP-hard</a:t>
            </a:r>
          </a:p>
          <a:p>
            <a:pPr>
              <a:spcAft>
                <a:spcPts val="300"/>
              </a:spcAft>
            </a:pPr>
            <a:r>
              <a:rPr sz="900" b="0" i="0">
                <a:solidFill>
                  <a:srgbClr val="5F4E53"/>
                </a:solidFill>
                <a:latin typeface="Montserrat"/>
              </a:rPr>
              <a:t>'Every other problem in NP reduces to it in polynomial time [4].'</a:t>
            </a:r>
          </a:p>
          <a:p>
            <a:pPr>
              <a:spcAft>
                <a:spcPts val="0"/>
              </a:spcAft>
            </a:pPr>
            <a:r>
              <a:rPr sz="750" b="0" i="0">
                <a:solidFill>
                  <a:srgbClr val="B29AA0"/>
                </a:solidFill>
                <a:latin typeface="Montserrat"/>
              </a:rPr>
              <a:t>DEFINITION Brief, section 2</a:t>
            </a:r>
          </a:p>
        </p:txBody>
      </p:sp>
      <p:sp>
        <p:nvSpPr>
          <p:cNvPr id="25" name="Rectangle 24"/>
          <p:cNvSpPr/>
          <p:nvPr/>
        </p:nvSpPr>
        <p:spPr>
          <a:xfrm>
            <a:off x="8085124" y="3191256"/>
            <a:ext cx="3576218" cy="1417320"/>
          </a:xfrm>
          <a:prstGeom prst="rect">
            <a:avLst/>
          </a:prstGeom>
          <a:solidFill>
            <a:srgbClr val="FDF8F8"/>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85124" y="3191256"/>
            <a:ext cx="3576218" cy="36576"/>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13140" y="3337560"/>
            <a:ext cx="3320186" cy="1143000"/>
          </a:xfrm>
          <a:prstGeom prst="rect">
            <a:avLst/>
          </a:prstGeom>
          <a:noFill/>
        </p:spPr>
        <p:txBody>
          <a:bodyPr wrap="square" lIns="0" rIns="0" tIns="0" bIns="0">
            <a:spAutoFit/>
          </a:bodyPr>
          <a:lstStyle/>
          <a:p>
            <a:pPr>
              <a:spcAft>
                <a:spcPts val="400"/>
              </a:spcAft>
            </a:pPr>
            <a:r>
              <a:rPr sz="1000" b="1" i="0">
                <a:solidFill>
                  <a:srgbClr val="9E6474"/>
                </a:solidFill>
                <a:latin typeface="Montserrat"/>
              </a:rPr>
              <a:t>NP-complete</a:t>
            </a:r>
          </a:p>
          <a:p>
            <a:pPr>
              <a:spcAft>
                <a:spcPts val="300"/>
              </a:spcAft>
            </a:pPr>
            <a:r>
              <a:rPr sz="900" b="0" i="0">
                <a:solidFill>
                  <a:srgbClr val="5F4E53"/>
                </a:solidFill>
                <a:latin typeface="Montserrat"/>
              </a:rPr>
              <a:t>'In NP and NP-hard simultaneously; the hardest problems inside NP, in the precise sense that a polynomial-time algorithm for any one of them yields polynomial-time algorithms for all problems in NP [4][1].'</a:t>
            </a:r>
          </a:p>
          <a:p>
            <a:pPr>
              <a:spcAft>
                <a:spcPts val="0"/>
              </a:spcAft>
            </a:pPr>
            <a:r>
              <a:rPr sz="750" b="0" i="0">
                <a:solidFill>
                  <a:srgbClr val="B29AA0"/>
                </a:solidFill>
                <a:latin typeface="Montserrat"/>
              </a:rPr>
              <a:t>DEFINITION Brief, section 2</a:t>
            </a:r>
          </a:p>
        </p:txBody>
      </p:sp>
      <p:sp>
        <p:nvSpPr>
          <p:cNvPr id="28" name="TextBox 27"/>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These backs replace the section 1 paraphrases carried in the outline draft. Where your course words a definition differently, the course wins.</a:t>
            </a:r>
          </a:p>
          <a:p>
            <a:pPr>
              <a:spcAft>
                <a:spcPts val="100"/>
              </a:spcAft>
            </a:pPr>
            <a:r>
              <a:rPr sz="800" b="0" i="0">
                <a:solidFill>
                  <a:srgbClr val="B29AA0"/>
                </a:solidFill>
                <a:latin typeface="Montserrat"/>
              </a:rPr>
              <a:t>The brief gives no formal or symbolic definition of NP anywhere: the verifier wording above is its characterisation, not a formal definition.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KNOW COLD: BARRIERS, RESULTS AND TERMS</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The top block is verbatim section 2 definitions. The bottom block is prose from elsewhere in the brief, and is labelled as prose.</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21</a:t>
            </a:r>
          </a:p>
        </p:txBody>
      </p:sp>
      <p:sp>
        <p:nvSpPr>
          <p:cNvPr id="10" name="Rectangle 9"/>
          <p:cNvSpPr/>
          <p:nvPr/>
        </p:nvSpPr>
        <p:spPr>
          <a:xfrm>
            <a:off x="530352" y="1572768"/>
            <a:ext cx="3576218" cy="1277112"/>
          </a:xfrm>
          <a:prstGeom prst="rect">
            <a:avLst/>
          </a:prstGeom>
          <a:solidFill>
            <a:srgbClr val="FDF8F8"/>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 y="1572768"/>
            <a:ext cx="3576218" cy="36576"/>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1719072"/>
            <a:ext cx="3320186" cy="1002792"/>
          </a:xfrm>
          <a:prstGeom prst="rect">
            <a:avLst/>
          </a:prstGeom>
          <a:noFill/>
        </p:spPr>
        <p:txBody>
          <a:bodyPr wrap="square" lIns="0" rIns="0" tIns="0" bIns="0">
            <a:spAutoFit/>
          </a:bodyPr>
          <a:lstStyle/>
          <a:p>
            <a:pPr>
              <a:spcAft>
                <a:spcPts val="400"/>
              </a:spcAft>
            </a:pPr>
            <a:r>
              <a:rPr sz="1000" b="1" i="0">
                <a:solidFill>
                  <a:srgbClr val="9E6474"/>
                </a:solidFill>
                <a:latin typeface="Montserrat"/>
              </a:rPr>
              <a:t>Relativization</a:t>
            </a:r>
          </a:p>
          <a:p>
            <a:pPr>
              <a:spcAft>
                <a:spcPts val="300"/>
              </a:spcAft>
            </a:pPr>
            <a:r>
              <a:rPr sz="900" b="0" i="0">
                <a:solidFill>
                  <a:srgbClr val="5F4E53"/>
                </a:solidFill>
                <a:latin typeface="Montserrat"/>
              </a:rPr>
              <a:t>'A proof relativizes if it still works when every machine involved has access to the same additional information, modelled as an oracle [1].'</a:t>
            </a:r>
          </a:p>
          <a:p>
            <a:pPr>
              <a:spcAft>
                <a:spcPts val="0"/>
              </a:spcAft>
            </a:pPr>
            <a:r>
              <a:rPr sz="750" b="0" i="0">
                <a:solidFill>
                  <a:srgbClr val="B29AA0"/>
                </a:solidFill>
                <a:latin typeface="Montserrat"/>
              </a:rPr>
              <a:t>DEFINITION Brief, section 2</a:t>
            </a:r>
          </a:p>
        </p:txBody>
      </p:sp>
      <p:sp>
        <p:nvSpPr>
          <p:cNvPr id="13" name="Rectangle 12"/>
          <p:cNvSpPr/>
          <p:nvPr/>
        </p:nvSpPr>
        <p:spPr>
          <a:xfrm>
            <a:off x="4307738" y="1572768"/>
            <a:ext cx="3576218" cy="1277112"/>
          </a:xfrm>
          <a:prstGeom prst="rect">
            <a:avLst/>
          </a:prstGeom>
          <a:solidFill>
            <a:srgbClr val="FDF8F8"/>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572768"/>
            <a:ext cx="3576218" cy="36576"/>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5754" y="1719072"/>
            <a:ext cx="3320186" cy="1002792"/>
          </a:xfrm>
          <a:prstGeom prst="rect">
            <a:avLst/>
          </a:prstGeom>
          <a:noFill/>
        </p:spPr>
        <p:txBody>
          <a:bodyPr wrap="square" lIns="0" rIns="0" tIns="0" bIns="0">
            <a:spAutoFit/>
          </a:bodyPr>
          <a:lstStyle/>
          <a:p>
            <a:pPr>
              <a:spcAft>
                <a:spcPts val="400"/>
              </a:spcAft>
            </a:pPr>
            <a:r>
              <a:rPr sz="1000" b="1" i="0">
                <a:solidFill>
                  <a:srgbClr val="9E6474"/>
                </a:solidFill>
                <a:latin typeface="Montserrat"/>
              </a:rPr>
              <a:t>Algebrization</a:t>
            </a:r>
          </a:p>
          <a:p>
            <a:pPr>
              <a:spcAft>
                <a:spcPts val="300"/>
              </a:spcAft>
            </a:pPr>
            <a:r>
              <a:rPr sz="900" b="0" i="0">
                <a:solidFill>
                  <a:srgbClr val="5F4E53"/>
                </a:solidFill>
                <a:latin typeface="Montserrat"/>
              </a:rPr>
              <a:t>'Relativizing a class inclusion while giving the simulating machine access not only to an oracle A but also to a low-degree extension of A over a finite field or ring [3].'</a:t>
            </a:r>
          </a:p>
          <a:p>
            <a:pPr>
              <a:spcAft>
                <a:spcPts val="0"/>
              </a:spcAft>
            </a:pPr>
            <a:r>
              <a:rPr sz="750" b="0" i="0">
                <a:solidFill>
                  <a:srgbClr val="B29AA0"/>
                </a:solidFill>
                <a:latin typeface="Montserrat"/>
              </a:rPr>
              <a:t>DEFINITION Brief, section 2</a:t>
            </a:r>
          </a:p>
        </p:txBody>
      </p:sp>
      <p:sp>
        <p:nvSpPr>
          <p:cNvPr id="16" name="Rectangle 15"/>
          <p:cNvSpPr/>
          <p:nvPr/>
        </p:nvSpPr>
        <p:spPr>
          <a:xfrm>
            <a:off x="8085124" y="1572768"/>
            <a:ext cx="3576218" cy="1277112"/>
          </a:xfrm>
          <a:prstGeom prst="rect">
            <a:avLst/>
          </a:prstGeom>
          <a:solidFill>
            <a:srgbClr val="FDF8F8"/>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85124" y="1572768"/>
            <a:ext cx="3576218" cy="36576"/>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3140" y="1719072"/>
            <a:ext cx="3320186" cy="1002792"/>
          </a:xfrm>
          <a:prstGeom prst="rect">
            <a:avLst/>
          </a:prstGeom>
          <a:noFill/>
        </p:spPr>
        <p:txBody>
          <a:bodyPr wrap="square" lIns="0" rIns="0" tIns="0" bIns="0">
            <a:spAutoFit/>
          </a:bodyPr>
          <a:lstStyle/>
          <a:p>
            <a:pPr>
              <a:spcAft>
                <a:spcPts val="400"/>
              </a:spcAft>
            </a:pPr>
            <a:r>
              <a:rPr sz="1000" b="1" i="0">
                <a:solidFill>
                  <a:srgbClr val="9E6474"/>
                </a:solidFill>
                <a:latin typeface="Montserrat"/>
              </a:rPr>
              <a:t>P/poly</a:t>
            </a:r>
          </a:p>
          <a:p>
            <a:pPr>
              <a:spcAft>
                <a:spcPts val="300"/>
              </a:spcAft>
            </a:pPr>
            <a:r>
              <a:rPr sz="900" b="0" i="0">
                <a:solidFill>
                  <a:srgbClr val="5F4E53"/>
                </a:solidFill>
                <a:latin typeface="Montserrat"/>
              </a:rPr>
              <a:t>'The nonuniform circuit class appearing in the separations Aaronson and Wigderson catalogue, for example MAEXP not-subset-of P/poly and the open NEXP versus P/poly [3].'</a:t>
            </a:r>
          </a:p>
          <a:p>
            <a:pPr>
              <a:spcAft>
                <a:spcPts val="0"/>
              </a:spcAft>
            </a:pPr>
            <a:r>
              <a:rPr sz="750" b="0" i="0">
                <a:solidFill>
                  <a:srgbClr val="B29AA0"/>
                </a:solidFill>
                <a:latin typeface="Montserrat"/>
              </a:rPr>
              <a:t>DEFINITION Brief, section 2</a:t>
            </a:r>
          </a:p>
        </p:txBody>
      </p:sp>
      <p:sp>
        <p:nvSpPr>
          <p:cNvPr id="19" name="Rectangle 18"/>
          <p:cNvSpPr/>
          <p:nvPr/>
        </p:nvSpPr>
        <p:spPr>
          <a:xfrm>
            <a:off x="530352" y="3051048"/>
            <a:ext cx="3576218" cy="1277112"/>
          </a:xfrm>
          <a:prstGeom prst="rect">
            <a:avLst/>
          </a:prstGeom>
          <a:solidFill>
            <a:srgbClr val="FDF8F8"/>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0352" y="3051048"/>
            <a:ext cx="3576218" cy="36576"/>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197352"/>
            <a:ext cx="3320186" cy="1002792"/>
          </a:xfrm>
          <a:prstGeom prst="rect">
            <a:avLst/>
          </a:prstGeom>
          <a:noFill/>
        </p:spPr>
        <p:txBody>
          <a:bodyPr wrap="square" lIns="0" rIns="0" tIns="0" bIns="0">
            <a:spAutoFit/>
          </a:bodyPr>
          <a:lstStyle/>
          <a:p>
            <a:pPr>
              <a:spcAft>
                <a:spcPts val="400"/>
              </a:spcAft>
            </a:pPr>
            <a:r>
              <a:rPr sz="1000" b="1" i="0">
                <a:solidFill>
                  <a:srgbClr val="9E6474"/>
                </a:solidFill>
                <a:latin typeface="Montserrat"/>
              </a:rPr>
              <a:t>Natural proofs</a:t>
            </a:r>
          </a:p>
          <a:p>
            <a:pPr>
              <a:spcAft>
                <a:spcPts val="300"/>
              </a:spcAft>
            </a:pPr>
            <a:r>
              <a:rPr sz="900" b="0" i="0">
                <a:solidFill>
                  <a:srgbClr val="5F4E53"/>
                </a:solidFill>
                <a:latin typeface="Montserrat"/>
              </a:rPr>
              <a:t>Razborov and Rudich 'gave evidence that circuit-complexity techniques cannot be pushed much further' [1]. Evidence, not a theorem.</a:t>
            </a:r>
          </a:p>
          <a:p>
            <a:pPr>
              <a:spcAft>
                <a:spcPts val="0"/>
              </a:spcAft>
            </a:pPr>
            <a:r>
              <a:rPr sz="750" b="0" i="0">
                <a:solidFill>
                  <a:srgbClr val="B29AA0"/>
                </a:solidFill>
                <a:latin typeface="Montserrat"/>
              </a:rPr>
              <a:t>PROSE Brief, section 3.3</a:t>
            </a:r>
          </a:p>
        </p:txBody>
      </p:sp>
      <p:sp>
        <p:nvSpPr>
          <p:cNvPr id="22" name="Rectangle 21"/>
          <p:cNvSpPr/>
          <p:nvPr/>
        </p:nvSpPr>
        <p:spPr>
          <a:xfrm>
            <a:off x="4307738" y="3051048"/>
            <a:ext cx="3576218" cy="1277112"/>
          </a:xfrm>
          <a:prstGeom prst="rect">
            <a:avLst/>
          </a:prstGeom>
          <a:solidFill>
            <a:srgbClr val="FDF8F8"/>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7738" y="3051048"/>
            <a:ext cx="3576218" cy="36576"/>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5754" y="3197352"/>
            <a:ext cx="3320186" cy="1002792"/>
          </a:xfrm>
          <a:prstGeom prst="rect">
            <a:avLst/>
          </a:prstGeom>
          <a:noFill/>
        </p:spPr>
        <p:txBody>
          <a:bodyPr wrap="square" lIns="0" rIns="0" tIns="0" bIns="0">
            <a:spAutoFit/>
          </a:bodyPr>
          <a:lstStyle/>
          <a:p>
            <a:pPr>
              <a:spcAft>
                <a:spcPts val="400"/>
              </a:spcAft>
            </a:pPr>
            <a:r>
              <a:rPr sz="1000" b="1" i="0">
                <a:solidFill>
                  <a:srgbClr val="9E6474"/>
                </a:solidFill>
                <a:latin typeface="Montserrat"/>
              </a:rPr>
              <a:t>Cook-Levin theorem</a:t>
            </a:r>
          </a:p>
          <a:p>
            <a:pPr>
              <a:spcAft>
                <a:spcPts val="300"/>
              </a:spcAft>
            </a:pPr>
            <a:r>
              <a:rPr sz="900" b="0" i="0">
                <a:solidFill>
                  <a:srgbClr val="5F4E53"/>
                </a:solidFill>
                <a:latin typeface="Montserrat"/>
              </a:rPr>
              <a:t>Cook's 1971 proof and Levin's independent 1973 result showed SAT is NP-complete [4]. The brief gives no formal statement of it.</a:t>
            </a:r>
          </a:p>
          <a:p>
            <a:pPr>
              <a:spcAft>
                <a:spcPts val="0"/>
              </a:spcAft>
            </a:pPr>
            <a:r>
              <a:rPr sz="750" b="0" i="0">
                <a:solidFill>
                  <a:srgbClr val="B29AA0"/>
                </a:solidFill>
                <a:latin typeface="Montserrat"/>
              </a:rPr>
              <a:t>PROSE Brief, section 3.2</a:t>
            </a:r>
          </a:p>
        </p:txBody>
      </p:sp>
      <p:sp>
        <p:nvSpPr>
          <p:cNvPr id="25" name="Rectangle 24"/>
          <p:cNvSpPr/>
          <p:nvPr/>
        </p:nvSpPr>
        <p:spPr>
          <a:xfrm>
            <a:off x="8085124" y="3051048"/>
            <a:ext cx="3576218" cy="1277112"/>
          </a:xfrm>
          <a:prstGeom prst="rect">
            <a:avLst/>
          </a:prstGeom>
          <a:solidFill>
            <a:srgbClr val="FDF8F8"/>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85124" y="3051048"/>
            <a:ext cx="3576218" cy="36576"/>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13140" y="3197352"/>
            <a:ext cx="3320186" cy="1002792"/>
          </a:xfrm>
          <a:prstGeom prst="rect">
            <a:avLst/>
          </a:prstGeom>
          <a:noFill/>
        </p:spPr>
        <p:txBody>
          <a:bodyPr wrap="square" lIns="0" rIns="0" tIns="0" bIns="0">
            <a:spAutoFit/>
          </a:bodyPr>
          <a:lstStyle/>
          <a:p>
            <a:pPr>
              <a:spcAft>
                <a:spcPts val="400"/>
              </a:spcAft>
            </a:pPr>
            <a:r>
              <a:rPr sz="1000" b="1" i="0">
                <a:solidFill>
                  <a:srgbClr val="9E6474"/>
                </a:solidFill>
                <a:latin typeface="Montserrat"/>
              </a:rPr>
              <a:t>Optiland</a:t>
            </a:r>
          </a:p>
          <a:p>
            <a:pPr>
              <a:spcAft>
                <a:spcPts val="300"/>
              </a:spcAft>
            </a:pPr>
            <a:r>
              <a:rPr sz="900" b="0" i="0">
                <a:solidFill>
                  <a:srgbClr val="5F4E53"/>
                </a:solidFill>
                <a:latin typeface="Montserrat"/>
              </a:rPr>
              <a:t>Fortnow's name for a world that gains many of the advantages of P = NP while avoiding some disadvantages, such as breaking cryptography [2].</a:t>
            </a:r>
          </a:p>
          <a:p>
            <a:pPr>
              <a:spcAft>
                <a:spcPts val="0"/>
              </a:spcAft>
            </a:pPr>
            <a:r>
              <a:rPr sz="750" b="0" i="0">
                <a:solidFill>
                  <a:srgbClr val="B29AA0"/>
                </a:solidFill>
                <a:latin typeface="Montserrat"/>
              </a:rPr>
              <a:t>TERM Brief, section 3.5</a:t>
            </a:r>
          </a:p>
        </p:txBody>
      </p:sp>
      <p:sp>
        <p:nvSpPr>
          <p:cNvPr id="28" name="Rectangle 27"/>
          <p:cNvSpPr/>
          <p:nvPr/>
        </p:nvSpPr>
        <p:spPr>
          <a:xfrm>
            <a:off x="530352" y="4529328"/>
            <a:ext cx="3576218" cy="1277112"/>
          </a:xfrm>
          <a:prstGeom prst="rect">
            <a:avLst/>
          </a:prstGeom>
          <a:solidFill>
            <a:srgbClr val="FDF8F8"/>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30352" y="4529328"/>
            <a:ext cx="3576218" cy="36576"/>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4675632"/>
            <a:ext cx="3320186" cy="1002792"/>
          </a:xfrm>
          <a:prstGeom prst="rect">
            <a:avLst/>
          </a:prstGeom>
          <a:noFill/>
        </p:spPr>
        <p:txBody>
          <a:bodyPr wrap="square" lIns="0" rIns="0" tIns="0" bIns="0">
            <a:spAutoFit/>
          </a:bodyPr>
          <a:lstStyle/>
          <a:p>
            <a:pPr>
              <a:spcAft>
                <a:spcPts val="400"/>
              </a:spcAft>
            </a:pPr>
            <a:r>
              <a:rPr sz="1000" b="1" i="0">
                <a:solidFill>
                  <a:srgbClr val="9E6474"/>
                </a:solidFill>
                <a:latin typeface="Montserrat"/>
              </a:rPr>
              <a:t>P != NP and cryptography</a:t>
            </a:r>
          </a:p>
          <a:p>
            <a:pPr>
              <a:spcAft>
                <a:spcPts val="300"/>
              </a:spcAft>
            </a:pPr>
            <a:r>
              <a:rPr sz="900" b="0" i="0">
                <a:solidFill>
                  <a:srgbClr val="5F4E53"/>
                </a:solidFill>
                <a:latin typeface="Montserrat"/>
              </a:rPr>
              <a:t>Necessary but not sufficient: public-key protocols need strong average-case assumptions about the difficulty of factoring or related problems [1].</a:t>
            </a:r>
          </a:p>
          <a:p>
            <a:pPr>
              <a:spcAft>
                <a:spcPts val="0"/>
              </a:spcAft>
            </a:pPr>
            <a:r>
              <a:rPr sz="750" b="0" i="0">
                <a:solidFill>
                  <a:srgbClr val="B29AA0"/>
                </a:solidFill>
                <a:latin typeface="Montserrat"/>
              </a:rPr>
              <a:t>IMPLICATION Brief, section 3.4</a:t>
            </a:r>
          </a:p>
        </p:txBody>
      </p:sp>
      <p:sp>
        <p:nvSpPr>
          <p:cNvPr id="31" name="Rectangle 30"/>
          <p:cNvSpPr/>
          <p:nvPr/>
        </p:nvSpPr>
        <p:spPr>
          <a:xfrm>
            <a:off x="4307738" y="4529328"/>
            <a:ext cx="3576218" cy="1277112"/>
          </a:xfrm>
          <a:prstGeom prst="rect">
            <a:avLst/>
          </a:prstGeom>
          <a:solidFill>
            <a:srgbClr val="FDF8F8"/>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07738" y="4529328"/>
            <a:ext cx="3576218" cy="36576"/>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35754" y="4675632"/>
            <a:ext cx="3320186" cy="1002792"/>
          </a:xfrm>
          <a:prstGeom prst="rect">
            <a:avLst/>
          </a:prstGeom>
          <a:noFill/>
        </p:spPr>
        <p:txBody>
          <a:bodyPr wrap="square" lIns="0" rIns="0" tIns="0" bIns="0">
            <a:spAutoFit/>
          </a:bodyPr>
          <a:lstStyle/>
          <a:p>
            <a:pPr>
              <a:spcAft>
                <a:spcPts val="400"/>
              </a:spcAft>
            </a:pPr>
            <a:r>
              <a:rPr sz="1000" b="1" i="0">
                <a:solidFill>
                  <a:srgbClr val="9E6474"/>
                </a:solidFill>
                <a:latin typeface="Montserrat"/>
              </a:rPr>
              <a:t>Efficient computation: who, and when</a:t>
            </a:r>
          </a:p>
          <a:p>
            <a:pPr>
              <a:spcAft>
                <a:spcPts val="300"/>
              </a:spcAft>
            </a:pPr>
            <a:r>
              <a:rPr sz="900" b="0" i="0">
                <a:solidFill>
                  <a:srgbClr val="5F4E53"/>
                </a:solidFill>
                <a:latin typeface="Montserrat"/>
              </a:rPr>
              <a:t>Jack Edmonds proposed the notion in 1965, alongside his matching algorithm [1].</a:t>
            </a:r>
          </a:p>
          <a:p>
            <a:pPr>
              <a:spcAft>
                <a:spcPts val="0"/>
              </a:spcAft>
            </a:pPr>
            <a:r>
              <a:rPr sz="750" b="0" i="0">
                <a:solidFill>
                  <a:srgbClr val="B29AA0"/>
                </a:solidFill>
                <a:latin typeface="Montserrat"/>
              </a:rPr>
              <a:t>ATTRIBUTION Brief, section 3.5</a:t>
            </a:r>
          </a:p>
        </p:txBody>
      </p:sp>
      <p:sp>
        <p:nvSpPr>
          <p:cNvPr id="34" name="TextBox 33"/>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Section 2 of the brief defines only two of the three barrier names. 'Natural proofs' has no section 2 row at all, and there is no section 2 row for the Cook-Levin theorem, for SAT or for 3-SAT.</a:t>
            </a:r>
          </a:p>
          <a:p>
            <a:pPr>
              <a:spcAft>
                <a:spcPts val="100"/>
              </a:spcAft>
            </a:pPr>
            <a:r>
              <a:rPr sz="800" b="0" i="0">
                <a:solidFill>
                  <a:srgbClr val="B29AA0"/>
                </a:solidFill>
                <a:latin typeface="Montserrat"/>
              </a:rPr>
              <a:t>Keep the two blocks apart: the top three are definitions, the bottom five are prose.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PRACTICE QUESTIONS</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Nine questions of the kind this topic supports, with an answer key that traces to the brief.</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22</a:t>
            </a:r>
          </a:p>
        </p:txBody>
      </p:sp>
      <p:graphicFrame>
        <p:nvGraphicFramePr>
          <p:cNvPr id="10" name="Table 9"/>
          <p:cNvGraphicFramePr>
            <a:graphicFrameLocks noGrp="1"/>
          </p:cNvGraphicFramePr>
          <p:nvPr/>
        </p:nvGraphicFramePr>
        <p:xfrm>
          <a:off x="530352" y="1572768"/>
          <a:ext cx="11130989" cy="2560320"/>
        </p:xfrm>
        <a:graphic>
          <a:graphicData uri="http://schemas.openxmlformats.org/drawingml/2006/table">
            <a:tbl>
              <a:tblPr firstRow="1" bandRow="1">
                <a:tableStyleId>{5C22544A-7EE6-4342-B048-85BDC9FD1C3A}</a:tableStyleId>
              </a:tblPr>
              <a:tblGrid>
                <a:gridCol w="6071449"/>
                <a:gridCol w="2529770"/>
                <a:gridCol w="2529770"/>
              </a:tblGrid>
              <a:tr h="256032">
                <a:tc>
                  <a:txBody>
                    <a:bodyPr/>
                    <a:lstStyle/>
                    <a:p>
                      <a:r>
                        <a:rPr sz="900" b="1" i="0">
                          <a:solidFill>
                            <a:srgbClr val="FFFFFF"/>
                          </a:solidFill>
                          <a:latin typeface="Montserrat"/>
                        </a:rPr>
                        <a:t>Question</a:t>
                      </a:r>
                    </a:p>
                  </a:txBody>
                  <a:tcPr anchor="ctr" marL="54864" marR="54864">
                    <a:solidFill>
                      <a:srgbClr val="9E6474"/>
                    </a:solidFill>
                  </a:tcPr>
                </a:tc>
                <a:tc>
                  <a:txBody>
                    <a:bodyPr/>
                    <a:lstStyle/>
                    <a:p>
                      <a:r>
                        <a:rPr sz="900" b="1" i="0">
                          <a:solidFill>
                            <a:srgbClr val="FFFFFF"/>
                          </a:solidFill>
                          <a:latin typeface="Montserrat"/>
                        </a:rPr>
                        <a:t>Correct answer</a:t>
                      </a:r>
                    </a:p>
                  </a:txBody>
                  <a:tcPr anchor="ctr" marL="54864" marR="54864">
                    <a:solidFill>
                      <a:srgbClr val="9E6474"/>
                    </a:solidFill>
                  </a:tcPr>
                </a:tc>
                <a:tc>
                  <a:txBody>
                    <a:bodyPr/>
                    <a:lstStyle/>
                    <a:p>
                      <a:r>
                        <a:rPr sz="900" b="1" i="0">
                          <a:solidFill>
                            <a:srgbClr val="FFFFFF"/>
                          </a:solidFill>
                          <a:latin typeface="Montserrat"/>
                        </a:rPr>
                        <a:t>Covered on slide</a:t>
                      </a:r>
                    </a:p>
                  </a:txBody>
                  <a:tcPr anchor="ctr" marL="54864" marR="54864">
                    <a:solidFill>
                      <a:srgbClr val="9E6474"/>
                    </a:solidFill>
                  </a:tcPr>
                </a:tc>
              </a:tr>
              <a:tr h="256032">
                <a:tc>
                  <a:txBody>
                    <a:bodyPr/>
                    <a:lstStyle/>
                    <a:p>
                      <a:r>
                        <a:rPr sz="900" b="0" i="0">
                          <a:solidFill>
                            <a:srgbClr val="5F4E53"/>
                          </a:solidFill>
                          <a:latin typeface="Montserrat"/>
                        </a:rPr>
                        <a:t>State the P versus NP question in one sentence.</a:t>
                      </a:r>
                    </a:p>
                  </a:txBody>
                  <a:tcPr anchor="ctr" marL="54864" marR="54864">
                    <a:solidFill>
                      <a:srgbClr val="FDF8F8"/>
                    </a:solidFill>
                  </a:tcPr>
                </a:tc>
                <a:tc>
                  <a:txBody>
                    <a:bodyPr/>
                    <a:lstStyle/>
                    <a:p>
                      <a:r>
                        <a:rPr sz="900" b="0" i="0">
                          <a:solidFill>
                            <a:srgbClr val="5F4E53"/>
                          </a:solidFill>
                          <a:latin typeface="Montserrat"/>
                        </a:rPr>
                        <a:t>Whether every problem with an efficiently verifiable solution also has an efficiently computable one [1]. That is the brief's wording, not Cook's official statement</a:t>
                      </a:r>
                    </a:p>
                  </a:txBody>
                  <a:tcPr anchor="ctr" marL="54864" marR="54864">
                    <a:solidFill>
                      <a:srgbClr val="FDF8F8"/>
                    </a:solidFill>
                  </a:tcPr>
                </a:tc>
                <a:tc>
                  <a:txBody>
                    <a:bodyPr/>
                    <a:lstStyle/>
                    <a:p>
                      <a:r>
                        <a:rPr sz="900" b="0" i="0">
                          <a:solidFill>
                            <a:srgbClr val="5F4E53"/>
                          </a:solidFill>
                          <a:latin typeface="Montserrat"/>
                        </a:rPr>
                        <a:t>5, 20</a:t>
                      </a:r>
                    </a:p>
                  </a:txBody>
                  <a:tcPr anchor="ctr" marL="54864" marR="54864">
                    <a:solidFill>
                      <a:srgbClr val="FDF8F8"/>
                    </a:solidFill>
                  </a:tcPr>
                </a:tc>
              </a:tr>
              <a:tr h="256032">
                <a:tc>
                  <a:txBody>
                    <a:bodyPr/>
                    <a:lstStyle/>
                    <a:p>
                      <a:r>
                        <a:rPr sz="900" b="0" i="0">
                          <a:solidFill>
                            <a:srgbClr val="5F4E53"/>
                          </a:solidFill>
                          <a:latin typeface="Montserrat"/>
                        </a:rPr>
                        <a:t>Name the three barriers and the technique each blocks.</a:t>
                      </a:r>
                    </a:p>
                  </a:txBody>
                  <a:tcPr anchor="ctr" marL="54864" marR="54864">
                    <a:solidFill>
                      <a:srgbClr val="FBF2F3"/>
                    </a:solidFill>
                  </a:tcPr>
                </a:tc>
                <a:tc>
                  <a:txBody>
                    <a:bodyPr/>
                    <a:lstStyle/>
                    <a:p>
                      <a:r>
                        <a:rPr sz="900" b="0" i="0">
                          <a:solidFill>
                            <a:srgbClr val="5F4E53"/>
                          </a:solidFill>
                          <a:latin typeface="Montserrat"/>
                        </a:rPr>
                        <a:t>Relativization blocks diagonalization; natural proofs block combinatorial circuit lower bounds; algebrization blocks arithmetization</a:t>
                      </a:r>
                    </a:p>
                  </a:txBody>
                  <a:tcPr anchor="ctr" marL="54864" marR="54864">
                    <a:solidFill>
                      <a:srgbClr val="FBF2F3"/>
                    </a:solidFill>
                  </a:tcPr>
                </a:tc>
                <a:tc>
                  <a:txBody>
                    <a:bodyPr/>
                    <a:lstStyle/>
                    <a:p>
                      <a:r>
                        <a:rPr sz="900" b="0" i="0">
                          <a:solidFill>
                            <a:srgbClr val="5F4E53"/>
                          </a:solidFill>
                          <a:latin typeface="Montserrat"/>
                        </a:rPr>
                        <a:t>10</a:t>
                      </a:r>
                    </a:p>
                  </a:txBody>
                  <a:tcPr anchor="ctr" marL="54864" marR="54864">
                    <a:solidFill>
                      <a:srgbClr val="FBF2F3"/>
                    </a:solidFill>
                  </a:tcPr>
                </a:tc>
              </a:tr>
              <a:tr h="256032">
                <a:tc>
                  <a:txBody>
                    <a:bodyPr/>
                    <a:lstStyle/>
                    <a:p>
                      <a:r>
                        <a:rPr sz="900" b="0" i="0">
                          <a:solidFill>
                            <a:srgbClr val="5F4E53"/>
                          </a:solidFill>
                          <a:latin typeface="Montserrat"/>
                        </a:rPr>
                        <a:t>What did Baker, Gill and Solovay show in 1975?</a:t>
                      </a:r>
                    </a:p>
                  </a:txBody>
                  <a:tcPr anchor="ctr" marL="54864" marR="54864">
                    <a:solidFill>
                      <a:srgbClr val="FDF8F8"/>
                    </a:solidFill>
                  </a:tcPr>
                </a:tc>
                <a:tc>
                  <a:txBody>
                    <a:bodyPr/>
                    <a:lstStyle/>
                    <a:p>
                      <a:r>
                        <a:rPr sz="900" b="0" i="0">
                          <a:solidFill>
                            <a:srgbClr val="5F4E53"/>
                          </a:solidFill>
                          <a:latin typeface="Montserrat"/>
                        </a:rPr>
                        <a:t>That no relativizing proof can settle P versus NP in either direction</a:t>
                      </a:r>
                    </a:p>
                  </a:txBody>
                  <a:tcPr anchor="ctr" marL="54864" marR="54864">
                    <a:solidFill>
                      <a:srgbClr val="FDF8F8"/>
                    </a:solidFill>
                  </a:tcPr>
                </a:tc>
                <a:tc>
                  <a:txBody>
                    <a:bodyPr/>
                    <a:lstStyle/>
                    <a:p>
                      <a:r>
                        <a:rPr sz="900" b="0" i="0">
                          <a:solidFill>
                            <a:srgbClr val="5F4E53"/>
                          </a:solidFill>
                          <a:latin typeface="Montserrat"/>
                        </a:rPr>
                        <a:t>10</a:t>
                      </a:r>
                    </a:p>
                  </a:txBody>
                  <a:tcPr anchor="ctr" marL="54864" marR="54864">
                    <a:solidFill>
                      <a:srgbClr val="FDF8F8"/>
                    </a:solidFill>
                  </a:tcPr>
                </a:tc>
              </a:tr>
              <a:tr h="256032">
                <a:tc>
                  <a:txBody>
                    <a:bodyPr/>
                    <a:lstStyle/>
                    <a:p>
                      <a:r>
                        <a:rPr sz="900" b="0" i="0">
                          <a:solidFill>
                            <a:srgbClr val="5F4E53"/>
                          </a:solidFill>
                          <a:latin typeface="Montserrat"/>
                        </a:rPr>
                        <a:t>Do the barriers give evidence that P != NP?</a:t>
                      </a:r>
                    </a:p>
                  </a:txBody>
                  <a:tcPr anchor="ctr" marL="54864" marR="54864">
                    <a:solidFill>
                      <a:srgbClr val="FBF2F3"/>
                    </a:solidFill>
                  </a:tcPr>
                </a:tc>
                <a:tc>
                  <a:txBody>
                    <a:bodyPr/>
                    <a:lstStyle/>
                    <a:p>
                      <a:r>
                        <a:rPr sz="900" b="0" i="0">
                          <a:solidFill>
                            <a:srgbClr val="5F4E53"/>
                          </a:solidFill>
                          <a:latin typeface="Montserrat"/>
                        </a:rPr>
                        <a:t>No. They are results about proof techniques, not about the answer</a:t>
                      </a:r>
                    </a:p>
                  </a:txBody>
                  <a:tcPr anchor="ctr" marL="54864" marR="54864">
                    <a:solidFill>
                      <a:srgbClr val="FBF2F3"/>
                    </a:solidFill>
                  </a:tcPr>
                </a:tc>
                <a:tc>
                  <a:txBody>
                    <a:bodyPr/>
                    <a:lstStyle/>
                    <a:p>
                      <a:r>
                        <a:rPr sz="900" b="0" i="0">
                          <a:solidFill>
                            <a:srgbClr val="5F4E53"/>
                          </a:solidFill>
                          <a:latin typeface="Montserrat"/>
                        </a:rPr>
                        <a:t>11, 16</a:t>
                      </a:r>
                    </a:p>
                  </a:txBody>
                  <a:tcPr anchor="ctr" marL="54864" marR="54864">
                    <a:solidFill>
                      <a:srgbClr val="FBF2F3"/>
                    </a:solidFill>
                  </a:tcPr>
                </a:tc>
              </a:tr>
              <a:tr h="256032">
                <a:tc>
                  <a:txBody>
                    <a:bodyPr/>
                    <a:lstStyle/>
                    <a:p>
                      <a:r>
                        <a:rPr sz="900" b="0" i="0">
                          <a:solidFill>
                            <a:srgbClr val="5F4E53"/>
                          </a:solidFill>
                          <a:latin typeface="Montserrat"/>
                        </a:rPr>
                        <a:t>Does P != NP imply public-key cryptography is secure?</a:t>
                      </a:r>
                    </a:p>
                  </a:txBody>
                  <a:tcPr anchor="ctr" marL="54864" marR="54864">
                    <a:solidFill>
                      <a:srgbClr val="FDF8F8"/>
                    </a:solidFill>
                  </a:tcPr>
                </a:tc>
                <a:tc>
                  <a:txBody>
                    <a:bodyPr/>
                    <a:lstStyle/>
                    <a:p>
                      <a:r>
                        <a:rPr sz="900" b="0" i="0">
                          <a:solidFill>
                            <a:srgbClr val="5F4E53"/>
                          </a:solidFill>
                          <a:latin typeface="Montserrat"/>
                        </a:rPr>
                        <a:t>No. It is necessary but not sufficient; public-key protocols need strong average-case assumptions about factoring or related problems</a:t>
                      </a:r>
                    </a:p>
                  </a:txBody>
                  <a:tcPr anchor="ctr" marL="54864" marR="54864">
                    <a:solidFill>
                      <a:srgbClr val="FDF8F8"/>
                    </a:solidFill>
                  </a:tcPr>
                </a:tc>
                <a:tc>
                  <a:txBody>
                    <a:bodyPr/>
                    <a:lstStyle/>
                    <a:p>
                      <a:r>
                        <a:rPr sz="900" b="0" i="0">
                          <a:solidFill>
                            <a:srgbClr val="5F4E53"/>
                          </a:solidFill>
                          <a:latin typeface="Montserrat"/>
                        </a:rPr>
                        <a:t>13</a:t>
                      </a:r>
                    </a:p>
                  </a:txBody>
                  <a:tcPr anchor="ctr" marL="54864" marR="54864">
                    <a:solidFill>
                      <a:srgbClr val="FDF8F8"/>
                    </a:solidFill>
                  </a:tcPr>
                </a:tc>
              </a:tr>
              <a:tr h="256032">
                <a:tc>
                  <a:txBody>
                    <a:bodyPr/>
                    <a:lstStyle/>
                    <a:p>
                      <a:r>
                        <a:rPr sz="900" b="0" i="0">
                          <a:solidFill>
                            <a:srgbClr val="5F4E53"/>
                          </a:solidFill>
                          <a:latin typeface="Montserrat"/>
                        </a:rPr>
                        <a:t>What does Fortnow's Optiland describe?</a:t>
                      </a:r>
                    </a:p>
                  </a:txBody>
                  <a:tcPr anchor="ctr" marL="54864" marR="54864">
                    <a:solidFill>
                      <a:srgbClr val="FBF2F3"/>
                    </a:solidFill>
                  </a:tcPr>
                </a:tc>
                <a:tc>
                  <a:txBody>
                    <a:bodyPr/>
                    <a:lstStyle/>
                    <a:p>
                      <a:r>
                        <a:rPr sz="900" b="0" i="0">
                          <a:solidFill>
                            <a:srgbClr val="5F4E53"/>
                          </a:solidFill>
                          <a:latin typeface="Montserrat"/>
                        </a:rPr>
                        <a:t>Advances in algorithms and hardware that let the field tackle many NP-complete problems while little progress is made breaking cryptographic systems</a:t>
                      </a:r>
                    </a:p>
                  </a:txBody>
                  <a:tcPr anchor="ctr" marL="54864" marR="54864">
                    <a:solidFill>
                      <a:srgbClr val="FBF2F3"/>
                    </a:solidFill>
                  </a:tcPr>
                </a:tc>
                <a:tc>
                  <a:txBody>
                    <a:bodyPr/>
                    <a:lstStyle/>
                    <a:p>
                      <a:r>
                        <a:rPr sz="900" b="0" i="0">
                          <a:solidFill>
                            <a:srgbClr val="5F4E53"/>
                          </a:solidFill>
                          <a:latin typeface="Montserrat"/>
                        </a:rPr>
                        <a:t>15</a:t>
                      </a:r>
                    </a:p>
                  </a:txBody>
                  <a:tcPr anchor="ctr" marL="54864" marR="54864">
                    <a:solidFill>
                      <a:srgbClr val="FBF2F3"/>
                    </a:solidFill>
                  </a:tcPr>
                </a:tc>
              </a:tr>
              <a:tr h="256032">
                <a:tc>
                  <a:txBody>
                    <a:bodyPr/>
                    <a:lstStyle/>
                    <a:p>
                      <a:r>
                        <a:rPr sz="900" b="0" i="0">
                          <a:solidFill>
                            <a:srgbClr val="5F4E53"/>
                          </a:solidFill>
                          <a:latin typeface="Montserrat"/>
                        </a:rPr>
                        <a:t>Who proposed the notion of efficient computation, and in what year?</a:t>
                      </a:r>
                    </a:p>
                  </a:txBody>
                  <a:tcPr anchor="ctr" marL="54864" marR="54864">
                    <a:solidFill>
                      <a:srgbClr val="FDF8F8"/>
                    </a:solidFill>
                  </a:tcPr>
                </a:tc>
                <a:tc>
                  <a:txBody>
                    <a:bodyPr/>
                    <a:lstStyle/>
                    <a:p>
                      <a:r>
                        <a:rPr sz="900" b="0" i="0">
                          <a:solidFill>
                            <a:srgbClr val="5F4E53"/>
                          </a:solidFill>
                          <a:latin typeface="Montserrat"/>
                        </a:rPr>
                        <a:t>Jack Edmonds, in 1965, alongside his matching algorithm</a:t>
                      </a:r>
                    </a:p>
                  </a:txBody>
                  <a:tcPr anchor="ctr" marL="54864" marR="54864">
                    <a:solidFill>
                      <a:srgbClr val="FDF8F8"/>
                    </a:solidFill>
                  </a:tcPr>
                </a:tc>
                <a:tc>
                  <a:txBody>
                    <a:bodyPr/>
                    <a:lstStyle/>
                    <a:p>
                      <a:r>
                        <a:rPr sz="900" b="0" i="0">
                          <a:solidFill>
                            <a:srgbClr val="5F4E53"/>
                          </a:solidFill>
                          <a:latin typeface="Montserrat"/>
                        </a:rPr>
                        <a:t>5, 18, 21</a:t>
                      </a:r>
                    </a:p>
                  </a:txBody>
                  <a:tcPr anchor="ctr" marL="54864" marR="54864">
                    <a:solidFill>
                      <a:srgbClr val="FDF8F8"/>
                    </a:solidFill>
                  </a:tcPr>
                </a:tc>
              </a:tr>
              <a:tr h="256032">
                <a:tc>
                  <a:txBody>
                    <a:bodyPr/>
                    <a:lstStyle/>
                    <a:p>
                      <a:r>
                        <a:rPr sz="900" b="0" i="0">
                          <a:solidFill>
                            <a:srgbClr val="5F4E53"/>
                          </a:solidFill>
                          <a:latin typeface="Montserrat"/>
                        </a:rPr>
                        <a:t>What does the Cook-Levin theorem establish, and who is it due to?</a:t>
                      </a:r>
                    </a:p>
                  </a:txBody>
                  <a:tcPr anchor="ctr" marL="54864" marR="54864">
                    <a:solidFill>
                      <a:srgbClr val="FBF2F3"/>
                    </a:solidFill>
                  </a:tcPr>
                </a:tc>
                <a:tc>
                  <a:txBody>
                    <a:bodyPr/>
                    <a:lstStyle/>
                    <a:p>
                      <a:r>
                        <a:rPr sz="900" b="0" i="0">
                          <a:solidFill>
                            <a:srgbClr val="5F4E53"/>
                          </a:solidFill>
                          <a:latin typeface="Montserrat"/>
                        </a:rPr>
                        <a:t>That the Boolean satisfiability problem SAT is NP-complete; Cook's 1971 proof and Levin's independent 1973 result [4]</a:t>
                      </a:r>
                    </a:p>
                  </a:txBody>
                  <a:tcPr anchor="ctr" marL="54864" marR="54864">
                    <a:solidFill>
                      <a:srgbClr val="FBF2F3"/>
                    </a:solidFill>
                  </a:tcPr>
                </a:tc>
                <a:tc>
                  <a:txBody>
                    <a:bodyPr/>
                    <a:lstStyle/>
                    <a:p>
                      <a:r>
                        <a:rPr sz="900" b="0" i="0">
                          <a:solidFill>
                            <a:srgbClr val="5F4E53"/>
                          </a:solidFill>
                          <a:latin typeface="Montserrat"/>
                        </a:rPr>
                        <a:t>8, 18</a:t>
                      </a:r>
                    </a:p>
                  </a:txBody>
                  <a:tcPr anchor="ctr" marL="54864" marR="54864">
                    <a:solidFill>
                      <a:srgbClr val="FBF2F3"/>
                    </a:solidFill>
                  </a:tcPr>
                </a:tc>
              </a:tr>
              <a:tr h="256032">
                <a:tc>
                  <a:txBody>
                    <a:bodyPr/>
                    <a:lstStyle/>
                    <a:p>
                      <a:r>
                        <a:rPr sz="900" b="0" i="0">
                          <a:solidFill>
                            <a:srgbClr val="5F4E53"/>
                          </a:solidFill>
                          <a:latin typeface="Montserrat"/>
                        </a:rPr>
                        <a:t>If P = NP, does every NP-complete problem become practically fast?</a:t>
                      </a:r>
                    </a:p>
                  </a:txBody>
                  <a:tcPr anchor="ctr" marL="54864" marR="54864">
                    <a:solidFill>
                      <a:srgbClr val="FDF8F8"/>
                    </a:solidFill>
                  </a:tcPr>
                </a:tc>
                <a:tc>
                  <a:txBody>
                    <a:bodyPr/>
                    <a:lstStyle/>
                    <a:p>
                      <a:r>
                        <a:rPr sz="900" b="0" i="0">
                          <a:solidFill>
                            <a:srgbClr val="5F4E53"/>
                          </a:solidFill>
                          <a:latin typeface="Montserrat"/>
                        </a:rPr>
                        <a:t>Not necessarily. Fortnow: 'Technically we could have P = NP, but not have practical algorithms for most NP-complete problems' [1]</a:t>
                      </a:r>
                    </a:p>
                  </a:txBody>
                  <a:tcPr anchor="ctr" marL="54864" marR="54864">
                    <a:solidFill>
                      <a:srgbClr val="FDF8F8"/>
                    </a:solidFill>
                  </a:tcPr>
                </a:tc>
                <a:tc>
                  <a:txBody>
                    <a:bodyPr/>
                    <a:lstStyle/>
                    <a:p>
                      <a:r>
                        <a:rPr sz="900" b="0" i="0">
                          <a:solidFill>
                            <a:srgbClr val="5F4E53"/>
                          </a:solidFill>
                          <a:latin typeface="Montserrat"/>
                        </a:rPr>
                        <a:t>13, 16</a:t>
                      </a:r>
                    </a:p>
                  </a:txBody>
                  <a:tcPr anchor="ctr" marL="54864" marR="54864">
                    <a:solidFill>
                      <a:srgbClr val="FDF8F8"/>
                    </a:solidFill>
                  </a:tcPr>
                </a:tc>
              </a:tr>
            </a:tbl>
          </a:graphicData>
        </a:graphic>
      </p:graphicFrame>
      <p:sp>
        <p:nvSpPr>
          <p:cNvPr id="11" name="TextBox 10"/>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These practice questions were written for this guide. They are not from a past quiz and no instructor set them (hypothetical course detail).</a:t>
            </a:r>
          </a:p>
          <a:p>
            <a:pPr>
              <a:spcAft>
                <a:spcPts val="100"/>
              </a:spcAft>
            </a:pPr>
            <a:r>
              <a:rPr sz="800" b="0" i="0">
                <a:solidFill>
                  <a:srgbClr val="B29AA0"/>
                </a:solidFill>
                <a:latin typeface="Montserrat"/>
              </a:rPr>
              <a:t>Every answer key entry above traces to the research brief; none of the subject matter is invented.</a:t>
            </a:r>
          </a:p>
          <a:p>
            <a:pPr>
              <a:spcAft>
                <a:spcPts val="100"/>
              </a:spcAft>
            </a:pPr>
            <a:r>
              <a:rPr sz="800" b="0" i="0">
                <a:solidFill>
                  <a:srgbClr val="B29AA0"/>
                </a:solidFill>
                <a:latin typeface="Montserrat"/>
              </a:rPr>
              <a:t>The last two questions were added at the build stage, on the same basis as the seven approved at the outline stage (hypothetical course detail).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READINESS CHECK</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Four things to be able to do without notes before the quiz.</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23</a:t>
            </a:r>
          </a:p>
        </p:txBody>
      </p:sp>
      <p:sp>
        <p:nvSpPr>
          <p:cNvPr id="10" name="Rectangle 9"/>
          <p:cNvSpPr/>
          <p:nvPr/>
        </p:nvSpPr>
        <p:spPr>
          <a:xfrm>
            <a:off x="530352" y="1572768"/>
            <a:ext cx="1828800" cy="859536"/>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64208"/>
            <a:ext cx="1609344" cy="676656"/>
          </a:xfrm>
          <a:prstGeom prst="rect">
            <a:avLst/>
          </a:prstGeom>
          <a:noFill/>
        </p:spPr>
        <p:txBody>
          <a:bodyPr wrap="square" lIns="0" rIns="0" tIns="0" bIns="0">
            <a:spAutoFit/>
          </a:bodyPr>
          <a:lstStyle/>
          <a:p>
            <a:pPr>
              <a:spcAft>
                <a:spcPts val="100"/>
              </a:spcAft>
            </a:pPr>
            <a:r>
              <a:rPr sz="1100" b="1" i="0">
                <a:solidFill>
                  <a:srgbClr val="FDF8F8"/>
                </a:solidFill>
                <a:latin typeface="Montserrat"/>
              </a:rPr>
              <a:t>1</a:t>
            </a:r>
          </a:p>
          <a:p>
            <a:pPr>
              <a:spcAft>
                <a:spcPts val="100"/>
              </a:spcAft>
            </a:pPr>
            <a:r>
              <a:rPr sz="900" b="1" i="0">
                <a:solidFill>
                  <a:srgbClr val="FFFFFF"/>
                </a:solidFill>
                <a:latin typeface="Montserrat"/>
              </a:rPr>
              <a:t>THE FORMAL STATEMENT</a:t>
            </a:r>
          </a:p>
        </p:txBody>
      </p:sp>
      <p:sp>
        <p:nvSpPr>
          <p:cNvPr id="12" name="Rectangle 11"/>
          <p:cNvSpPr/>
          <p:nvPr/>
        </p:nvSpPr>
        <p:spPr>
          <a:xfrm>
            <a:off x="2359152" y="1572768"/>
            <a:ext cx="9302191" cy="859536"/>
          </a:xfrm>
          <a:prstGeom prst="rect">
            <a:avLst/>
          </a:prstGeom>
          <a:solidFill>
            <a:srgbClr val="FFFFFF"/>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23744" y="1682496"/>
            <a:ext cx="8973007" cy="640080"/>
          </a:xfrm>
          <a:prstGeom prst="rect">
            <a:avLst/>
          </a:prstGeom>
          <a:noFill/>
        </p:spPr>
        <p:txBody>
          <a:bodyPr wrap="square" lIns="0" rIns="0" tIns="0" bIns="0">
            <a:spAutoFit/>
          </a:bodyPr>
          <a:lstStyle/>
          <a:p>
            <a:pPr>
              <a:spcAft>
                <a:spcPts val="300"/>
              </a:spcAft>
            </a:pPr>
            <a:r>
              <a:rPr sz="950" b="0" i="0">
                <a:solidFill>
                  <a:srgbClr val="5F4E53"/>
                </a:solidFill>
                <a:latin typeface="Montserrat"/>
              </a:rPr>
              <a:t>▪  State the brief's section 2 wordings for P and for NP</a:t>
            </a:r>
          </a:p>
          <a:p>
            <a:pPr>
              <a:spcAft>
                <a:spcPts val="300"/>
              </a:spcAft>
            </a:pPr>
            <a:r>
              <a:rPr sz="950" b="0" i="0">
                <a:solidFill>
                  <a:srgbClr val="5F4E53"/>
                </a:solidFill>
                <a:latin typeface="Montserrat"/>
              </a:rPr>
              <a:t>▪  Attribute the notion of efficient computation to Edmonds, 1965</a:t>
            </a:r>
          </a:p>
          <a:p>
            <a:pPr>
              <a:spcAft>
                <a:spcPts val="300"/>
              </a:spcAft>
            </a:pPr>
            <a:r>
              <a:rPr sz="950" b="0" i="0">
                <a:solidFill>
                  <a:srgbClr val="5F4E53"/>
                </a:solidFill>
                <a:latin typeface="Montserrat"/>
              </a:rPr>
              <a:t>▪  Say why this is a claim about two classes of languages</a:t>
            </a:r>
          </a:p>
          <a:p>
            <a:pPr>
              <a:spcAft>
                <a:spcPts val="300"/>
              </a:spcAft>
            </a:pPr>
            <a:r>
              <a:rPr sz="950" b="0" i="0">
                <a:solidFill>
                  <a:srgbClr val="5F4E53"/>
                </a:solidFill>
                <a:latin typeface="Montserrat"/>
              </a:rPr>
              <a:t>▪  Say that the brief uses the verifier formulation only, and gives no formal definition of NP</a:t>
            </a:r>
          </a:p>
        </p:txBody>
      </p:sp>
      <p:sp>
        <p:nvSpPr>
          <p:cNvPr id="14" name="Rectangle 13"/>
          <p:cNvSpPr/>
          <p:nvPr/>
        </p:nvSpPr>
        <p:spPr>
          <a:xfrm>
            <a:off x="530352" y="2578608"/>
            <a:ext cx="1828800" cy="859536"/>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670048"/>
            <a:ext cx="1609344" cy="676656"/>
          </a:xfrm>
          <a:prstGeom prst="rect">
            <a:avLst/>
          </a:prstGeom>
          <a:noFill/>
        </p:spPr>
        <p:txBody>
          <a:bodyPr wrap="square" lIns="0" rIns="0" tIns="0" bIns="0">
            <a:spAutoFit/>
          </a:bodyPr>
          <a:lstStyle/>
          <a:p>
            <a:pPr>
              <a:spcAft>
                <a:spcPts val="100"/>
              </a:spcAft>
            </a:pPr>
            <a:r>
              <a:rPr sz="1100" b="1" i="0">
                <a:solidFill>
                  <a:srgbClr val="FDF8F8"/>
                </a:solidFill>
                <a:latin typeface="Montserrat"/>
              </a:rPr>
              <a:t>2</a:t>
            </a:r>
          </a:p>
          <a:p>
            <a:pPr>
              <a:spcAft>
                <a:spcPts val="100"/>
              </a:spcAft>
            </a:pPr>
            <a:r>
              <a:rPr sz="900" b="1" i="0">
                <a:solidFill>
                  <a:srgbClr val="FFFFFF"/>
                </a:solidFill>
                <a:latin typeface="Montserrat"/>
              </a:rPr>
              <a:t>THE NP-COMPLETENESS MACHINERY</a:t>
            </a:r>
          </a:p>
        </p:txBody>
      </p:sp>
      <p:sp>
        <p:nvSpPr>
          <p:cNvPr id="16" name="Rectangle 15"/>
          <p:cNvSpPr/>
          <p:nvPr/>
        </p:nvSpPr>
        <p:spPr>
          <a:xfrm>
            <a:off x="2359152" y="2578608"/>
            <a:ext cx="9302191" cy="859536"/>
          </a:xfrm>
          <a:prstGeom prst="rect">
            <a:avLst/>
          </a:prstGeom>
          <a:solidFill>
            <a:srgbClr val="FFFFFF"/>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23744" y="2688336"/>
            <a:ext cx="8973007" cy="640080"/>
          </a:xfrm>
          <a:prstGeom prst="rect">
            <a:avLst/>
          </a:prstGeom>
          <a:noFill/>
        </p:spPr>
        <p:txBody>
          <a:bodyPr wrap="square" lIns="0" rIns="0" tIns="0" bIns="0">
            <a:spAutoFit/>
          </a:bodyPr>
          <a:lstStyle/>
          <a:p>
            <a:pPr>
              <a:spcAft>
                <a:spcPts val="300"/>
              </a:spcAft>
            </a:pPr>
            <a:r>
              <a:rPr sz="950" b="0" i="0">
                <a:solidFill>
                  <a:srgbClr val="5F4E53"/>
                </a:solidFill>
                <a:latin typeface="Montserrat"/>
              </a:rPr>
              <a:t>▪  State the brief's polynomial-time reduction wording, and say that it is not a formal definition</a:t>
            </a:r>
          </a:p>
          <a:p>
            <a:pPr>
              <a:spcAft>
                <a:spcPts val="300"/>
              </a:spcAft>
            </a:pPr>
            <a:r>
              <a:rPr sz="950" b="0" i="0">
                <a:solidFill>
                  <a:srgbClr val="5F4E53"/>
                </a:solidFill>
                <a:latin typeface="Montserrat"/>
              </a:rPr>
              <a:t>▪  State the NP-hard and NP-complete wordings, and that the brief never states the difference as a sentence</a:t>
            </a:r>
          </a:p>
          <a:p>
            <a:pPr>
              <a:spcAft>
                <a:spcPts val="300"/>
              </a:spcAft>
            </a:pPr>
            <a:r>
              <a:rPr sz="950" b="0" i="0">
                <a:solidFill>
                  <a:srgbClr val="5F4E53"/>
                </a:solidFill>
                <a:latin typeface="Montserrat"/>
              </a:rPr>
              <a:t>▪  Say what Cook-Levin establishes, and give both dates the sources attach to Cook's presentation</a:t>
            </a:r>
          </a:p>
          <a:p>
            <a:pPr>
              <a:spcAft>
                <a:spcPts val="300"/>
              </a:spcAft>
            </a:pPr>
            <a:r>
              <a:rPr sz="950" b="0" i="0">
                <a:solidFill>
                  <a:srgbClr val="5F4E53"/>
                </a:solidFill>
                <a:latin typeface="Montserrat"/>
              </a:rPr>
              <a:t>▪  Check which presentation of the Cook-Levin reduction your own course uses</a:t>
            </a:r>
          </a:p>
        </p:txBody>
      </p:sp>
      <p:sp>
        <p:nvSpPr>
          <p:cNvPr id="18" name="Rectangle 17"/>
          <p:cNvSpPr/>
          <p:nvPr/>
        </p:nvSpPr>
        <p:spPr>
          <a:xfrm>
            <a:off x="530352" y="3584448"/>
            <a:ext cx="1828800" cy="859536"/>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675888"/>
            <a:ext cx="1609344" cy="676656"/>
          </a:xfrm>
          <a:prstGeom prst="rect">
            <a:avLst/>
          </a:prstGeom>
          <a:noFill/>
        </p:spPr>
        <p:txBody>
          <a:bodyPr wrap="square" lIns="0" rIns="0" tIns="0" bIns="0">
            <a:spAutoFit/>
          </a:bodyPr>
          <a:lstStyle/>
          <a:p>
            <a:pPr>
              <a:spcAft>
                <a:spcPts val="100"/>
              </a:spcAft>
            </a:pPr>
            <a:r>
              <a:rPr sz="1100" b="1" i="0">
                <a:solidFill>
                  <a:srgbClr val="FDF8F8"/>
                </a:solidFill>
                <a:latin typeface="Montserrat"/>
              </a:rPr>
              <a:t>3</a:t>
            </a:r>
          </a:p>
          <a:p>
            <a:pPr>
              <a:spcAft>
                <a:spcPts val="100"/>
              </a:spcAft>
            </a:pPr>
            <a:r>
              <a:rPr sz="900" b="1" i="0">
                <a:solidFill>
                  <a:srgbClr val="FFFFFF"/>
                </a:solidFill>
                <a:latin typeface="Montserrat"/>
              </a:rPr>
              <a:t>THE THREE BARRIERS</a:t>
            </a:r>
          </a:p>
        </p:txBody>
      </p:sp>
      <p:sp>
        <p:nvSpPr>
          <p:cNvPr id="20" name="Rectangle 19"/>
          <p:cNvSpPr/>
          <p:nvPr/>
        </p:nvSpPr>
        <p:spPr>
          <a:xfrm>
            <a:off x="2359152" y="3584448"/>
            <a:ext cx="9302191" cy="859536"/>
          </a:xfrm>
          <a:prstGeom prst="rect">
            <a:avLst/>
          </a:prstGeom>
          <a:solidFill>
            <a:srgbClr val="FFFFFF"/>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23744" y="3694176"/>
            <a:ext cx="8973007" cy="640080"/>
          </a:xfrm>
          <a:prstGeom prst="rect">
            <a:avLst/>
          </a:prstGeom>
          <a:noFill/>
        </p:spPr>
        <p:txBody>
          <a:bodyPr wrap="square" lIns="0" rIns="0" tIns="0" bIns="0">
            <a:spAutoFit/>
          </a:bodyPr>
          <a:lstStyle/>
          <a:p>
            <a:pPr>
              <a:spcAft>
                <a:spcPts val="300"/>
              </a:spcAft>
            </a:pPr>
            <a:r>
              <a:rPr sz="950" b="0" i="0">
                <a:solidFill>
                  <a:srgbClr val="5F4E53"/>
                </a:solidFill>
                <a:latin typeface="Montserrat"/>
              </a:rPr>
              <a:t>▪  Name each barrier, the technique it blocks and its named result</a:t>
            </a:r>
          </a:p>
          <a:p>
            <a:pPr>
              <a:spcAft>
                <a:spcPts val="300"/>
              </a:spcAft>
            </a:pPr>
            <a:r>
              <a:rPr sz="950" b="0" i="0">
                <a:solidFill>
                  <a:srgbClr val="5F4E53"/>
                </a:solidFill>
                <a:latin typeface="Montserrat"/>
              </a:rPr>
              <a:t>▪  Say 'gave evidence' for Razborov and Rudich, not 'proved'</a:t>
            </a:r>
          </a:p>
          <a:p>
            <a:pPr>
              <a:spcAft>
                <a:spcPts val="300"/>
              </a:spcAft>
            </a:pPr>
            <a:r>
              <a:rPr sz="950" b="0" i="0">
                <a:solidFill>
                  <a:srgbClr val="5F4E53"/>
                </a:solidFill>
                <a:latin typeface="Montserrat"/>
              </a:rPr>
              <a:t>▪  Separate the result about methods from the belief about the answer</a:t>
            </a:r>
          </a:p>
          <a:p>
            <a:pPr>
              <a:spcAft>
                <a:spcPts val="300"/>
              </a:spcAft>
            </a:pPr>
            <a:r>
              <a:rPr sz="950" b="0" i="0">
                <a:solidFill>
                  <a:srgbClr val="5F4E53"/>
                </a:solidFill>
                <a:latin typeface="Montserrat"/>
              </a:rPr>
              <a:t>▪  Check which of the three barriers a claimed proof addresses before reading its body</a:t>
            </a:r>
          </a:p>
        </p:txBody>
      </p:sp>
      <p:sp>
        <p:nvSpPr>
          <p:cNvPr id="22" name="Rectangle 21"/>
          <p:cNvSpPr/>
          <p:nvPr/>
        </p:nvSpPr>
        <p:spPr>
          <a:xfrm>
            <a:off x="530352" y="4590288"/>
            <a:ext cx="1828800" cy="859536"/>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681728"/>
            <a:ext cx="1609344" cy="676656"/>
          </a:xfrm>
          <a:prstGeom prst="rect">
            <a:avLst/>
          </a:prstGeom>
          <a:noFill/>
        </p:spPr>
        <p:txBody>
          <a:bodyPr wrap="square" lIns="0" rIns="0" tIns="0" bIns="0">
            <a:spAutoFit/>
          </a:bodyPr>
          <a:lstStyle/>
          <a:p>
            <a:pPr>
              <a:spcAft>
                <a:spcPts val="100"/>
              </a:spcAft>
            </a:pPr>
            <a:r>
              <a:rPr sz="1100" b="1" i="0">
                <a:solidFill>
                  <a:srgbClr val="FDF8F8"/>
                </a:solidFill>
                <a:latin typeface="Montserrat"/>
              </a:rPr>
              <a:t>4</a:t>
            </a:r>
          </a:p>
          <a:p>
            <a:pPr>
              <a:spcAft>
                <a:spcPts val="100"/>
              </a:spcAft>
            </a:pPr>
            <a:r>
              <a:rPr sz="900" b="1" i="0">
                <a:solidFill>
                  <a:srgbClr val="FFFFFF"/>
                </a:solidFill>
                <a:latin typeface="Montserrat"/>
              </a:rPr>
              <a:t>CONSEQUENCES AND STATUS</a:t>
            </a:r>
          </a:p>
        </p:txBody>
      </p:sp>
      <p:sp>
        <p:nvSpPr>
          <p:cNvPr id="24" name="Rectangle 23"/>
          <p:cNvSpPr/>
          <p:nvPr/>
        </p:nvSpPr>
        <p:spPr>
          <a:xfrm>
            <a:off x="2359152" y="4590288"/>
            <a:ext cx="9302191" cy="859536"/>
          </a:xfrm>
          <a:prstGeom prst="rect">
            <a:avLst/>
          </a:prstGeom>
          <a:solidFill>
            <a:srgbClr val="FFFFFF"/>
          </a:solidFill>
          <a:ln w="9525">
            <a:solidFill>
              <a:srgbClr val="F0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23744" y="4700016"/>
            <a:ext cx="8973007" cy="640080"/>
          </a:xfrm>
          <a:prstGeom prst="rect">
            <a:avLst/>
          </a:prstGeom>
          <a:noFill/>
        </p:spPr>
        <p:txBody>
          <a:bodyPr wrap="square" lIns="0" rIns="0" tIns="0" bIns="0">
            <a:spAutoFit/>
          </a:bodyPr>
          <a:lstStyle/>
          <a:p>
            <a:pPr>
              <a:spcAft>
                <a:spcPts val="300"/>
              </a:spcAft>
            </a:pPr>
            <a:r>
              <a:rPr sz="950" b="0" i="0">
                <a:solidFill>
                  <a:srgbClr val="5F4E53"/>
                </a:solidFill>
                <a:latin typeface="Montserrat"/>
              </a:rPr>
              <a:t>▪  Say why P != NP is necessary but not sufficient for cryptography</a:t>
            </a:r>
          </a:p>
          <a:p>
            <a:pPr>
              <a:spcAft>
                <a:spcPts val="300"/>
              </a:spcAft>
            </a:pPr>
            <a:r>
              <a:rPr sz="950" b="0" i="0">
                <a:solidFill>
                  <a:srgbClr val="5F4E53"/>
                </a:solidFill>
                <a:latin typeface="Montserrat"/>
              </a:rPr>
              <a:t>▪  Quote Fortnow's caveat on what P = NP would and would not deliver</a:t>
            </a:r>
          </a:p>
          <a:p>
            <a:pPr>
              <a:spcAft>
                <a:spcPts val="300"/>
              </a:spcAft>
            </a:pPr>
            <a:r>
              <a:rPr sz="950" b="0" i="0">
                <a:solidFill>
                  <a:srgbClr val="5F4E53"/>
                </a:solidFill>
                <a:latin typeface="Montserrat"/>
              </a:rPr>
              <a:t>▪  Describe Optiland and the worst-case versus practical distinction</a:t>
            </a:r>
          </a:p>
          <a:p>
            <a:pPr>
              <a:spcAft>
                <a:spcPts val="300"/>
              </a:spcAft>
            </a:pPr>
            <a:r>
              <a:rPr sz="950" b="0" i="0">
                <a:solidFill>
                  <a:srgbClr val="5F4E53"/>
                </a:solidFill>
                <a:latin typeface="Montserrat"/>
              </a:rPr>
              <a:t>▪  Name Impagliazzo's five worlds, and characterise only the two endpoints</a:t>
            </a:r>
          </a:p>
        </p:txBody>
      </p:sp>
      <p:sp>
        <p:nvSpPr>
          <p:cNvPr id="26" name="TextBox 25"/>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No status column: there is no review history for this topic yet. Seven days to the quiz (hypothetical course detail).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38912"/>
            <a:ext cx="283464" cy="342900"/>
          </a:xfrm>
          <a:prstGeom prst="rect">
            <a:avLst/>
          </a:prstGeom>
          <a:solidFill>
            <a:srgbClr val="B982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84048"/>
            <a:ext cx="11130991" cy="457200"/>
          </a:xfrm>
          <a:prstGeom prst="rect">
            <a:avLst/>
          </a:prstGeom>
          <a:noFill/>
        </p:spPr>
        <p:txBody>
          <a:bodyPr wrap="square" lIns="0" rIns="0" tIns="0" bIns="0">
            <a:spAutoFit/>
          </a:bodyPr>
          <a:lstStyle/>
          <a:p>
            <a:pPr>
              <a:spcAft>
                <a:spcPts val="0"/>
              </a:spcAft>
            </a:pPr>
            <a:r>
              <a:rPr sz="2400" b="1" i="0">
                <a:solidFill>
                  <a:srgbClr val="9E6474"/>
                </a:solidFill>
                <a:latin typeface="Montserrat"/>
              </a:rPr>
              <a:t>SOURCES, AND HOW EACH WAS RETRIEVED</a:t>
            </a:r>
          </a:p>
        </p:txBody>
      </p:sp>
      <p:sp>
        <p:nvSpPr>
          <p:cNvPr id="4" name="TextBox 3"/>
          <p:cNvSpPr txBox="1"/>
          <p:nvPr/>
        </p:nvSpPr>
        <p:spPr>
          <a:xfrm>
            <a:off x="530352" y="868680"/>
            <a:ext cx="11130991" cy="274320"/>
          </a:xfrm>
          <a:prstGeom prst="rect">
            <a:avLst/>
          </a:prstGeom>
          <a:noFill/>
        </p:spPr>
        <p:txBody>
          <a:bodyPr wrap="square" lIns="0" rIns="0" tIns="0" bIns="0">
            <a:spAutoFit/>
          </a:bodyPr>
          <a:lstStyle/>
          <a:p>
            <a:pPr>
              <a:spcAft>
                <a:spcPts val="0"/>
              </a:spcAft>
            </a:pPr>
            <a:r>
              <a:rPr sz="1300" b="0" i="0">
                <a:solidFill>
                  <a:srgbClr val="635054"/>
                </a:solidFill>
                <a:latin typeface="Montserrat"/>
              </a:rPr>
              <a:t>One source of record: the research brief. These are the brief's citations, with the brief's own marks on how far each was read.</a:t>
            </a:r>
          </a:p>
        </p:txBody>
      </p:sp>
      <p:sp>
        <p:nvSpPr>
          <p:cNvPr id="5" name="Rectangle 4"/>
          <p:cNvSpPr/>
          <p:nvPr/>
        </p:nvSpPr>
        <p:spPr>
          <a:xfrm>
            <a:off x="530352" y="1188720"/>
            <a:ext cx="11130991" cy="9525"/>
          </a:xfrm>
          <a:prstGeom prst="rect">
            <a:avLst/>
          </a:prstGeom>
          <a:solidFill>
            <a:srgbClr val="F0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9E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18288"/>
          </a:xfrm>
          <a:prstGeom prst="rect">
            <a:avLst/>
          </a:prstGeom>
          <a:solidFill>
            <a:srgbClr val="D9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574536"/>
            <a:ext cx="2743200" cy="201168"/>
          </a:xfrm>
          <a:prstGeom prst="rect">
            <a:avLst/>
          </a:prstGeom>
          <a:noFill/>
        </p:spPr>
        <p:txBody>
          <a:bodyPr wrap="square" lIns="0" rIns="0" tIns="0" bIns="0">
            <a:spAutoFit/>
          </a:bodyPr>
          <a:lstStyle/>
          <a:p>
            <a:pPr>
              <a:spcAft>
                <a:spcPts val="0"/>
              </a:spcAft>
            </a:pPr>
            <a:r>
              <a:rPr sz="900" b="1" i="0">
                <a:solidFill>
                  <a:srgbClr val="FFFFFF"/>
                </a:solidFill>
                <a:latin typeface="Montserrat"/>
              </a:rPr>
              <a:t>STUDY GUIDE</a:t>
            </a:r>
          </a:p>
        </p:txBody>
      </p:sp>
      <p:sp>
        <p:nvSpPr>
          <p:cNvPr id="9" name="TextBox 8"/>
          <p:cNvSpPr txBox="1"/>
          <p:nvPr/>
        </p:nvSpPr>
        <p:spPr>
          <a:xfrm>
            <a:off x="11094415" y="6574536"/>
            <a:ext cx="566928" cy="201168"/>
          </a:xfrm>
          <a:prstGeom prst="rect">
            <a:avLst/>
          </a:prstGeom>
          <a:noFill/>
        </p:spPr>
        <p:txBody>
          <a:bodyPr wrap="square" lIns="0" rIns="0" tIns="0" bIns="0">
            <a:spAutoFit/>
          </a:bodyPr>
          <a:lstStyle/>
          <a:p>
            <a:pPr algn="r">
              <a:spcAft>
                <a:spcPts val="0"/>
              </a:spcAft>
            </a:pPr>
            <a:r>
              <a:rPr sz="1000" b="1" i="0">
                <a:solidFill>
                  <a:srgbClr val="FFFFFF"/>
                </a:solidFill>
                <a:latin typeface="Montserrat"/>
              </a:rPr>
              <a:t>24</a:t>
            </a:r>
          </a:p>
        </p:txBody>
      </p:sp>
      <p:graphicFrame>
        <p:nvGraphicFramePr>
          <p:cNvPr id="10" name="Table 9"/>
          <p:cNvGraphicFramePr>
            <a:graphicFrameLocks noGrp="1"/>
          </p:cNvGraphicFramePr>
          <p:nvPr/>
        </p:nvGraphicFramePr>
        <p:xfrm>
          <a:off x="530352" y="1572768"/>
          <a:ext cx="11130989" cy="2560320"/>
        </p:xfrm>
        <a:graphic>
          <a:graphicData uri="http://schemas.openxmlformats.org/drawingml/2006/table">
            <a:tbl>
              <a:tblPr firstRow="1" bandRow="1">
                <a:tableStyleId>{5C22544A-7EE6-4342-B048-85BDC9FD1C3A}</a:tableStyleId>
              </a:tblPr>
              <a:tblGrid>
                <a:gridCol w="890479"/>
                <a:gridCol w="5120255"/>
                <a:gridCol w="5120255"/>
              </a:tblGrid>
              <a:tr h="256032">
                <a:tc>
                  <a:txBody>
                    <a:bodyPr/>
                    <a:lstStyle/>
                    <a:p>
                      <a:r>
                        <a:rPr sz="900" b="1" i="0">
                          <a:solidFill>
                            <a:srgbClr val="FFFFFF"/>
                          </a:solidFill>
                          <a:latin typeface="Montserrat"/>
                        </a:rPr>
                        <a:t>Ref</a:t>
                      </a:r>
                    </a:p>
                  </a:txBody>
                  <a:tcPr anchor="ctr" marL="54864" marR="54864">
                    <a:solidFill>
                      <a:srgbClr val="9E6474"/>
                    </a:solidFill>
                  </a:tcPr>
                </a:tc>
                <a:tc>
                  <a:txBody>
                    <a:bodyPr/>
                    <a:lstStyle/>
                    <a:p>
                      <a:r>
                        <a:rPr sz="900" b="1" i="0">
                          <a:solidFill>
                            <a:srgbClr val="FFFFFF"/>
                          </a:solidFill>
                          <a:latin typeface="Montserrat"/>
                        </a:rPr>
                        <a:t>Source</a:t>
                      </a:r>
                    </a:p>
                  </a:txBody>
                  <a:tcPr anchor="ctr" marL="54864" marR="54864">
                    <a:solidFill>
                      <a:srgbClr val="9E6474"/>
                    </a:solidFill>
                  </a:tcPr>
                </a:tc>
                <a:tc>
                  <a:txBody>
                    <a:bodyPr/>
                    <a:lstStyle/>
                    <a:p>
                      <a:r>
                        <a:rPr sz="900" b="1" i="0">
                          <a:solidFill>
                            <a:srgbClr val="FFFFFF"/>
                          </a:solidFill>
                          <a:latin typeface="Montserrat"/>
                        </a:rPr>
                        <a:t>How the brief retrieved it</a:t>
                      </a:r>
                    </a:p>
                  </a:txBody>
                  <a:tcPr anchor="ctr" marL="54864" marR="54864">
                    <a:solidFill>
                      <a:srgbClr val="9E6474"/>
                    </a:solidFill>
                  </a:tcPr>
                </a:tc>
              </a:tr>
              <a:tr h="256032">
                <a:tc>
                  <a:txBody>
                    <a:bodyPr/>
                    <a:lstStyle/>
                    <a:p>
                      <a:r>
                        <a:rPr sz="900" b="0" i="0">
                          <a:solidFill>
                            <a:srgbClr val="5F4E53"/>
                          </a:solidFill>
                          <a:latin typeface="Montserrat"/>
                        </a:rPr>
                        <a:t>[1]</a:t>
                      </a:r>
                    </a:p>
                  </a:txBody>
                  <a:tcPr anchor="ctr" marL="54864" marR="54864">
                    <a:solidFill>
                      <a:srgbClr val="FDF8F8"/>
                    </a:solidFill>
                  </a:tcPr>
                </a:tc>
                <a:tc>
                  <a:txBody>
                    <a:bodyPr/>
                    <a:lstStyle/>
                    <a:p>
                      <a:r>
                        <a:rPr sz="900" b="0" i="0">
                          <a:solidFill>
                            <a:srgbClr val="5F4E53"/>
                          </a:solidFill>
                          <a:latin typeface="Montserrat"/>
                        </a:rPr>
                        <a:t>Fortnow, 'The Status of the P versus NP Problem', CACM 2009</a:t>
                      </a:r>
                    </a:p>
                  </a:txBody>
                  <a:tcPr anchor="ctr" marL="54864" marR="54864">
                    <a:solidFill>
                      <a:srgbClr val="FDF8F8"/>
                    </a:solidFill>
                  </a:tcPr>
                </a:tc>
                <a:tc>
                  <a:txBody>
                    <a:bodyPr/>
                    <a:lstStyle/>
                    <a:p>
                      <a:r>
                        <a:rPr sz="900" b="0" i="0">
                          <a:solidFill>
                            <a:srgbClr val="5F4E53"/>
                          </a:solidFill>
                          <a:latin typeface="Montserrat"/>
                        </a:rPr>
                        <a:t>Read. cacm.acm.org/research/the-status-of-the-p-versus-np-problem/</a:t>
                      </a:r>
                    </a:p>
                  </a:txBody>
                  <a:tcPr anchor="ctr" marL="54864" marR="54864">
                    <a:solidFill>
                      <a:srgbClr val="FDF8F8"/>
                    </a:solidFill>
                  </a:tcPr>
                </a:tc>
              </a:tr>
              <a:tr h="256032">
                <a:tc>
                  <a:txBody>
                    <a:bodyPr/>
                    <a:lstStyle/>
                    <a:p>
                      <a:r>
                        <a:rPr sz="900" b="0" i="0">
                          <a:solidFill>
                            <a:srgbClr val="5F4E53"/>
                          </a:solidFill>
                          <a:latin typeface="Montserrat"/>
                        </a:rPr>
                        <a:t>[2]</a:t>
                      </a:r>
                    </a:p>
                  </a:txBody>
                  <a:tcPr anchor="ctr" marL="54864" marR="54864">
                    <a:solidFill>
                      <a:srgbClr val="FBF2F3"/>
                    </a:solidFill>
                  </a:tcPr>
                </a:tc>
                <a:tc>
                  <a:txBody>
                    <a:bodyPr/>
                    <a:lstStyle/>
                    <a:p>
                      <a:r>
                        <a:rPr sz="900" b="0" i="0">
                          <a:solidFill>
                            <a:srgbClr val="5F4E53"/>
                          </a:solidFill>
                          <a:latin typeface="Montserrat"/>
                        </a:rPr>
                        <a:t>Fortnow, 'Fifty Years of P vs NP and the Possibility of the Impossible', CACM</a:t>
                      </a:r>
                    </a:p>
                  </a:txBody>
                  <a:tcPr anchor="ctr" marL="54864" marR="54864">
                    <a:solidFill>
                      <a:srgbClr val="FBF2F3"/>
                    </a:solidFill>
                  </a:tcPr>
                </a:tc>
                <a:tc>
                  <a:txBody>
                    <a:bodyPr/>
                    <a:lstStyle/>
                    <a:p>
                      <a:r>
                        <a:rPr sz="900" b="0" i="0">
                          <a:solidFill>
                            <a:srgbClr val="5F4E53"/>
                          </a:solidFill>
                          <a:latin typeface="Montserrat"/>
                        </a:rPr>
                        <a:t>Read. The brief's citation key attaches no year to it.</a:t>
                      </a:r>
                    </a:p>
                  </a:txBody>
                  <a:tcPr anchor="ctr" marL="54864" marR="54864">
                    <a:solidFill>
                      <a:srgbClr val="FBF2F3"/>
                    </a:solidFill>
                  </a:tcPr>
                </a:tc>
              </a:tr>
              <a:tr h="256032">
                <a:tc>
                  <a:txBody>
                    <a:bodyPr/>
                    <a:lstStyle/>
                    <a:p>
                      <a:r>
                        <a:rPr sz="900" b="0" i="0">
                          <a:solidFill>
                            <a:srgbClr val="5F4E53"/>
                          </a:solidFill>
                          <a:latin typeface="Montserrat"/>
                        </a:rPr>
                        <a:t>[3]</a:t>
                      </a:r>
                    </a:p>
                  </a:txBody>
                  <a:tcPr anchor="ctr" marL="54864" marR="54864">
                    <a:solidFill>
                      <a:srgbClr val="FDF8F8"/>
                    </a:solidFill>
                  </a:tcPr>
                </a:tc>
                <a:tc>
                  <a:txBody>
                    <a:bodyPr/>
                    <a:lstStyle/>
                    <a:p>
                      <a:r>
                        <a:rPr sz="900" b="0" i="0">
                          <a:solidFill>
                            <a:srgbClr val="5F4E53"/>
                          </a:solidFill>
                          <a:latin typeface="Montserrat"/>
                        </a:rPr>
                        <a:t>Aaronson and Wigderson, 'Algebrization: A New Barrier in Complexity Theory', ACM TOCT 2009</a:t>
                      </a:r>
                    </a:p>
                  </a:txBody>
                  <a:tcPr anchor="ctr" marL="54864" marR="54864">
                    <a:solidFill>
                      <a:srgbClr val="FDF8F8"/>
                    </a:solidFill>
                  </a:tcPr>
                </a:tc>
                <a:tc>
                  <a:txBody>
                    <a:bodyPr/>
                    <a:lstStyle/>
                    <a:p>
                      <a:r>
                        <a:rPr sz="900" b="0" i="0">
                          <a:solidFill>
                            <a:srgbClr val="5F4E53"/>
                          </a:solidFill>
                          <a:latin typeface="Montserrat"/>
                        </a:rPr>
                        <a:t>Read. dl.acm.org/doi/10.1145/1490270.1490272</a:t>
                      </a:r>
                    </a:p>
                  </a:txBody>
                  <a:tcPr anchor="ctr" marL="54864" marR="54864">
                    <a:solidFill>
                      <a:srgbClr val="FDF8F8"/>
                    </a:solidFill>
                  </a:tcPr>
                </a:tc>
              </a:tr>
              <a:tr h="256032">
                <a:tc>
                  <a:txBody>
                    <a:bodyPr/>
                    <a:lstStyle/>
                    <a:p>
                      <a:r>
                        <a:rPr sz="900" b="0" i="0">
                          <a:solidFill>
                            <a:srgbClr val="5F4E53"/>
                          </a:solidFill>
                          <a:latin typeface="Montserrat"/>
                        </a:rPr>
                        <a:t>[4]</a:t>
                      </a:r>
                    </a:p>
                  </a:txBody>
                  <a:tcPr anchor="ctr" marL="54864" marR="54864">
                    <a:solidFill>
                      <a:srgbClr val="FBF2F3"/>
                    </a:solidFill>
                  </a:tcPr>
                </a:tc>
                <a:tc>
                  <a:txBody>
                    <a:bodyPr/>
                    <a:lstStyle/>
                    <a:p>
                      <a:r>
                        <a:rPr sz="900" b="0" i="0">
                          <a:solidFill>
                            <a:srgbClr val="5F4E53"/>
                          </a:solidFill>
                          <a:latin typeface="Montserrat"/>
                        </a:rPr>
                        <a:t>IEEE TechNav, 'NP-complete problem'</a:t>
                      </a:r>
                    </a:p>
                  </a:txBody>
                  <a:tcPr anchor="ctr" marL="54864" marR="54864">
                    <a:solidFill>
                      <a:srgbClr val="FBF2F3"/>
                    </a:solidFill>
                  </a:tcPr>
                </a:tc>
                <a:tc>
                  <a:txBody>
                    <a:bodyPr/>
                    <a:lstStyle/>
                    <a:p>
                      <a:r>
                        <a:rPr sz="900" b="0" i="0">
                          <a:solidFill>
                            <a:srgbClr val="5F4E53"/>
                          </a:solidFill>
                          <a:latin typeface="Montserrat"/>
                        </a:rPr>
                        <a:t>Editorially curated reference page, not peer-reviewed. Used only for definitional material corroborated by [1] and [3], never as sole authority for a technical claim.</a:t>
                      </a:r>
                    </a:p>
                  </a:txBody>
                  <a:tcPr anchor="ctr" marL="54864" marR="54864">
                    <a:solidFill>
                      <a:srgbClr val="FBF2F3"/>
                    </a:solidFill>
                  </a:tcPr>
                </a:tc>
              </a:tr>
              <a:tr h="256032">
                <a:tc>
                  <a:txBody>
                    <a:bodyPr/>
                    <a:lstStyle/>
                    <a:p>
                      <a:r>
                        <a:rPr sz="900" b="0" i="0">
                          <a:solidFill>
                            <a:srgbClr val="5F4E53"/>
                          </a:solidFill>
                          <a:latin typeface="Montserrat"/>
                        </a:rPr>
                        <a:t>[7]</a:t>
                      </a:r>
                    </a:p>
                  </a:txBody>
                  <a:tcPr anchor="ctr" marL="54864" marR="54864">
                    <a:solidFill>
                      <a:srgbClr val="FDF8F8"/>
                    </a:solidFill>
                  </a:tcPr>
                </a:tc>
                <a:tc>
                  <a:txBody>
                    <a:bodyPr/>
                    <a:lstStyle/>
                    <a:p>
                      <a:r>
                        <a:rPr sz="900" b="0" i="0">
                          <a:solidFill>
                            <a:srgbClr val="5F4E53"/>
                          </a:solidFill>
                          <a:latin typeface="Montserrat"/>
                        </a:rPr>
                        <a:t>arXiv:2606.27139v1</a:t>
                      </a:r>
                    </a:p>
                  </a:txBody>
                  <a:tcPr anchor="ctr" marL="54864" marR="54864">
                    <a:solidFill>
                      <a:srgbClr val="FDF8F8"/>
                    </a:solidFill>
                  </a:tcPr>
                </a:tc>
                <a:tc>
                  <a:txBody>
                    <a:bodyPr/>
                    <a:lstStyle/>
                    <a:p>
                      <a:r>
                        <a:rPr sz="900" b="0" i="0">
                          <a:solidFill>
                            <a:srgbClr val="5F4E53"/>
                          </a:solidFill>
                          <a:latin typeface="Montserrat"/>
                        </a:rPr>
                        <a:t>Unrefereed preprint. Used only for its restatement of Impagliazzo's framework.</a:t>
                      </a:r>
                    </a:p>
                  </a:txBody>
                  <a:tcPr anchor="ctr" marL="54864" marR="54864">
                    <a:solidFill>
                      <a:srgbClr val="FDF8F8"/>
                    </a:solidFill>
                  </a:tcPr>
                </a:tc>
              </a:tr>
              <a:tr h="256032">
                <a:tc>
                  <a:txBody>
                    <a:bodyPr/>
                    <a:lstStyle/>
                    <a:p>
                      <a:r>
                        <a:rPr sz="900" b="0" i="0">
                          <a:solidFill>
                            <a:srgbClr val="5F4E53"/>
                          </a:solidFill>
                          <a:latin typeface="Montserrat"/>
                        </a:rPr>
                        <a:t>[9]</a:t>
                      </a:r>
                    </a:p>
                  </a:txBody>
                  <a:tcPr anchor="ctr" marL="54864" marR="54864">
                    <a:solidFill>
                      <a:srgbClr val="FBF2F3"/>
                    </a:solidFill>
                  </a:tcPr>
                </a:tc>
                <a:tc>
                  <a:txBody>
                    <a:bodyPr/>
                    <a:lstStyle/>
                    <a:p>
                      <a:r>
                        <a:rPr sz="900" b="0" i="0">
                          <a:solidFill>
                            <a:srgbClr val="5F4E53"/>
                          </a:solidFill>
                          <a:latin typeface="Montserrat"/>
                        </a:rPr>
                        <a:t>MIT scribe notes, Lecture 23, Average-Case Complexity</a:t>
                      </a:r>
                    </a:p>
                  </a:txBody>
                  <a:tcPr anchor="ctr" marL="54864" marR="54864">
                    <a:solidFill>
                      <a:srgbClr val="FBF2F3"/>
                    </a:solidFill>
                  </a:tcPr>
                </a:tc>
                <a:tc>
                  <a:txBody>
                    <a:bodyPr/>
                    <a:lstStyle/>
                    <a:p>
                      <a:r>
                        <a:rPr sz="900" b="0" i="0">
                          <a:solidFill>
                            <a:srgbClr val="5F4E53"/>
                          </a:solidFill>
                          <a:latin typeface="Montserrat"/>
                        </a:rPr>
                        <a:t>Preview only, never read in full. Load-bearing for the implication chain on slide 13.</a:t>
                      </a:r>
                    </a:p>
                  </a:txBody>
                  <a:tcPr anchor="ctr" marL="54864" marR="54864">
                    <a:solidFill>
                      <a:srgbClr val="FBF2F3"/>
                    </a:solidFill>
                  </a:tcPr>
                </a:tc>
              </a:tr>
              <a:tr h="256032">
                <a:tc>
                  <a:txBody>
                    <a:bodyPr/>
                    <a:lstStyle/>
                    <a:p>
                      <a:r>
                        <a:rPr sz="900" b="0" i="0">
                          <a:solidFill>
                            <a:srgbClr val="5F4E53"/>
                          </a:solidFill>
                          <a:latin typeface="Montserrat"/>
                        </a:rPr>
                        <a:t>[10]</a:t>
                      </a:r>
                    </a:p>
                  </a:txBody>
                  <a:tcPr anchor="ctr" marL="54864" marR="54864">
                    <a:solidFill>
                      <a:srgbClr val="FDF8F8"/>
                    </a:solidFill>
                  </a:tcPr>
                </a:tc>
                <a:tc>
                  <a:txBody>
                    <a:bodyPr/>
                    <a:lstStyle/>
                    <a:p>
                      <a:r>
                        <a:rPr sz="900" b="0" i="0">
                          <a:solidFill>
                            <a:srgbClr val="5F4E53"/>
                          </a:solidFill>
                          <a:latin typeface="Montserrat"/>
                        </a:rPr>
                        <a:t>Aaronson, 'Is P Versus NP Formally Independent?', Computational Complexity Column</a:t>
                      </a:r>
                    </a:p>
                  </a:txBody>
                  <a:tcPr anchor="ctr" marL="54864" marR="54864">
                    <a:solidFill>
                      <a:srgbClr val="FDF8F8"/>
                    </a:solidFill>
                  </a:tcPr>
                </a:tc>
                <a:tc>
                  <a:txBody>
                    <a:bodyPr/>
                    <a:lstStyle/>
                    <a:p>
                      <a:r>
                        <a:rPr sz="900" b="0" i="0">
                          <a:solidFill>
                            <a:srgbClr val="5F4E53"/>
                          </a:solidFill>
                          <a:latin typeface="Montserrat"/>
                        </a:rPr>
                        <a:t>Preview only. Issue number and year are [INFERRED - VERIFY] from the filename column81.pdf.</a:t>
                      </a:r>
                    </a:p>
                  </a:txBody>
                  <a:tcPr anchor="ctr" marL="54864" marR="54864">
                    <a:solidFill>
                      <a:srgbClr val="FDF8F8"/>
                    </a:solidFill>
                  </a:tcPr>
                </a:tc>
              </a:tr>
              <a:tr h="256032">
                <a:tc>
                  <a:txBody>
                    <a:bodyPr/>
                    <a:lstStyle/>
                    <a:p>
                      <a:r>
                        <a:rPr sz="900" b="0" i="0">
                          <a:solidFill>
                            <a:srgbClr val="5F4E53"/>
                          </a:solidFill>
                          <a:latin typeface="Montserrat"/>
                        </a:rPr>
                        <a:t>[11]</a:t>
                      </a:r>
                    </a:p>
                  </a:txBody>
                  <a:tcPr anchor="ctr" marL="54864" marR="54864">
                    <a:solidFill>
                      <a:srgbClr val="FBF2F3"/>
                    </a:solidFill>
                  </a:tcPr>
                </a:tc>
                <a:tc>
                  <a:txBody>
                    <a:bodyPr/>
                    <a:lstStyle/>
                    <a:p>
                      <a:r>
                        <a:rPr sz="900" b="0" i="0">
                          <a:solidFill>
                            <a:srgbClr val="5F4E53"/>
                          </a:solidFill>
                          <a:latin typeface="Montserrat"/>
                        </a:rPr>
                        <a:t>HAL preprint hal-04868914v3</a:t>
                      </a:r>
                    </a:p>
                  </a:txBody>
                  <a:tcPr anchor="ctr" marL="54864" marR="54864">
                    <a:solidFill>
                      <a:srgbClr val="FBF2F3"/>
                    </a:solidFill>
                  </a:tcPr>
                </a:tc>
                <a:tc>
                  <a:txBody>
                    <a:bodyPr/>
                    <a:lstStyle/>
                    <a:p>
                      <a:r>
                        <a:rPr sz="900" b="0" i="0">
                          <a:solidFill>
                            <a:srgbClr val="5F4E53"/>
                          </a:solidFill>
                          <a:latin typeface="Montserrat"/>
                        </a:rPr>
                        <a:t>Preview only, unrefereed. Sole support for the 3-SAT line on slide 8.</a:t>
                      </a:r>
                    </a:p>
                  </a:txBody>
                  <a:tcPr anchor="ctr" marL="54864" marR="54864">
                    <a:solidFill>
                      <a:srgbClr val="FBF2F3"/>
                    </a:solidFill>
                  </a:tcPr>
                </a:tc>
              </a:tr>
              <a:tr h="256032">
                <a:tc>
                  <a:txBody>
                    <a:bodyPr/>
                    <a:lstStyle/>
                    <a:p>
                      <a:r>
                        <a:rPr sz="900" b="0" i="0">
                          <a:solidFill>
                            <a:srgbClr val="5F4E53"/>
                          </a:solidFill>
                          <a:latin typeface="Montserrat"/>
                        </a:rPr>
                        <a:t>None</a:t>
                      </a:r>
                    </a:p>
                  </a:txBody>
                  <a:tcPr anchor="ctr" marL="54864" marR="54864">
                    <a:solidFill>
                      <a:srgbClr val="FDF8F8"/>
                    </a:solidFill>
                  </a:tcPr>
                </a:tc>
                <a:tc>
                  <a:txBody>
                    <a:bodyPr/>
                    <a:lstStyle/>
                    <a:p>
                      <a:r>
                        <a:rPr sz="900" b="0" i="0">
                          <a:solidFill>
                            <a:srgbClr val="5F4E53"/>
                          </a:solidFill>
                          <a:latin typeface="Montserrat"/>
                        </a:rPr>
                        <a:t>Stephen Cook's official Clay Mathematics Institute problem description; Aaronson's 'P =? NP' survey</a:t>
                      </a:r>
                    </a:p>
                  </a:txBody>
                  <a:tcPr anchor="ctr" marL="54864" marR="54864">
                    <a:solidFill>
                      <a:srgbClr val="FDF8F8"/>
                    </a:solidFill>
                  </a:tcPr>
                </a:tc>
                <a:tc>
                  <a:txBody>
                    <a:bodyPr/>
                    <a:lstStyle/>
                    <a:p>
                      <a:r>
                        <a:rPr sz="900" b="0" i="0">
                          <a:solidFill>
                            <a:srgbClr val="5F4E53"/>
                          </a:solidFill>
                          <a:latin typeface="Montserrat"/>
                        </a:rPr>
                        <a:t>Identified but never opened this run. Out of reach for this build, which is why slide 5 carries a placeholder.</a:t>
                      </a:r>
                    </a:p>
                  </a:txBody>
                  <a:tcPr anchor="ctr" marL="54864" marR="54864">
                    <a:solidFill>
                      <a:srgbClr val="FDF8F8"/>
                    </a:solidFill>
                  </a:tcPr>
                </a:tc>
              </a:tr>
            </a:tbl>
          </a:graphicData>
        </a:graphic>
      </p:graphicFrame>
      <p:sp>
        <p:nvSpPr>
          <p:cNvPr id="11" name="TextBox 10"/>
          <p:cNvSpPr txBox="1"/>
          <p:nvPr/>
        </p:nvSpPr>
        <p:spPr>
          <a:xfrm>
            <a:off x="530352" y="5925312"/>
            <a:ext cx="11130991" cy="502920"/>
          </a:xfrm>
          <a:prstGeom prst="rect">
            <a:avLst/>
          </a:prstGeom>
          <a:noFill/>
        </p:spPr>
        <p:txBody>
          <a:bodyPr wrap="square" lIns="0" rIns="0" tIns="0" bIns="0">
            <a:spAutoFit/>
          </a:bodyPr>
          <a:lstStyle/>
          <a:p>
            <a:pPr>
              <a:spcAft>
                <a:spcPts val="100"/>
              </a:spcAft>
            </a:pPr>
            <a:r>
              <a:rPr sz="800" b="0" i="0">
                <a:solidFill>
                  <a:srgbClr val="B29AA0"/>
                </a:solidFill>
                <a:latin typeface="Montserrat"/>
              </a:rPr>
              <a:t>Document-level caveat, brief section 6.4, verbatim: 'This brief has not been independently fact-checked. Every URL was verified against what this run actually retrieved, but nothing verifies that a correctly cited URL has been attached to the right claim.'</a:t>
            </a:r>
          </a:p>
          <a:p>
            <a:pPr>
              <a:spcAft>
                <a:spcPts val="100"/>
              </a:spcAft>
            </a:pPr>
            <a:r>
              <a:rPr sz="800" b="0" i="0">
                <a:solidFill>
                  <a:srgbClr val="B29AA0"/>
                </a:solidFill>
                <a:latin typeface="Montserrat"/>
              </a:rPr>
              <a:t>The course, the quiz date, the seven-day countdown and the practice questions on slide 22 are hypothetical course details, invented at the student's explicit instruction. Every definition, theorem, name, date and figure on this deck comes from the research brief and from nothing else.</a:t>
            </a:r>
          </a:p>
          <a:p>
            <a:pPr>
              <a:spcAft>
                <a:spcPts val="100"/>
              </a:spcAft>
            </a:pPr>
            <a:r>
              <a:rPr sz="800" b="0" i="0">
                <a:solidFill>
                  <a:srgbClr val="B29AA0"/>
                </a:solidFill>
                <a:latin typeface="Montserrat"/>
              </a:rPr>
              <a:t>Cook's Clay Mathematics Institute document is named in plain text and deliberately not linked anywhere on this deck, because the brief never retrieved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